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91" r:id="rId1"/>
  </p:sldMasterIdLst>
  <p:notesMasterIdLst>
    <p:notesMasterId r:id="rId33"/>
  </p:notesMasterIdLst>
  <p:handoutMasterIdLst>
    <p:handoutMasterId r:id="rId34"/>
  </p:handoutMasterIdLst>
  <p:sldIdLst>
    <p:sldId id="326" r:id="rId2"/>
    <p:sldId id="1311" r:id="rId3"/>
    <p:sldId id="1315" r:id="rId4"/>
    <p:sldId id="1360" r:id="rId5"/>
    <p:sldId id="1346" r:id="rId6"/>
    <p:sldId id="1372" r:id="rId7"/>
    <p:sldId id="1365" r:id="rId8"/>
    <p:sldId id="1373" r:id="rId9"/>
    <p:sldId id="1366" r:id="rId10"/>
    <p:sldId id="1363" r:id="rId11"/>
    <p:sldId id="1367" r:id="rId12"/>
    <p:sldId id="1364" r:id="rId13"/>
    <p:sldId id="1371" r:id="rId14"/>
    <p:sldId id="1369" r:id="rId15"/>
    <p:sldId id="1374" r:id="rId16"/>
    <p:sldId id="1317" r:id="rId17"/>
    <p:sldId id="1338" r:id="rId18"/>
    <p:sldId id="1350" r:id="rId19"/>
    <p:sldId id="1351" r:id="rId20"/>
    <p:sldId id="1375" r:id="rId21"/>
    <p:sldId id="1376" r:id="rId22"/>
    <p:sldId id="1378" r:id="rId23"/>
    <p:sldId id="1352" r:id="rId24"/>
    <p:sldId id="1356" r:id="rId25"/>
    <p:sldId id="1357" r:id="rId26"/>
    <p:sldId id="1358" r:id="rId27"/>
    <p:sldId id="1359" r:id="rId28"/>
    <p:sldId id="1379" r:id="rId29"/>
    <p:sldId id="1380" r:id="rId30"/>
    <p:sldId id="1381" r:id="rId31"/>
    <p:sldId id="1370" r:id="rId3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onghun" initials="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81C3"/>
    <a:srgbClr val="E84A27"/>
    <a:srgbClr val="F55F0B"/>
    <a:srgbClr val="F0EF77"/>
    <a:srgbClr val="EDEC76"/>
    <a:srgbClr val="F5F47A"/>
    <a:srgbClr val="0E1F40"/>
    <a:srgbClr val="1700FF"/>
    <a:srgbClr val="0000FF"/>
    <a:srgbClr val="0000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C13577-37B3-924F-AB36-715A25C7F40F}" v="1953" dt="2021-07-23T17:16:36.6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18"/>
    <p:restoredTop sz="94326"/>
  </p:normalViewPr>
  <p:slideViewPr>
    <p:cSldViewPr snapToGrid="0" snapToObjects="1">
      <p:cViewPr varScale="1">
        <p:scale>
          <a:sx n="214" d="100"/>
          <a:sy n="214" d="100"/>
        </p:scale>
        <p:origin x="328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68" d="100"/>
          <a:sy n="168" d="100"/>
        </p:scale>
        <p:origin x="6560" y="21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93D4196-4462-4844-A995-742015CC915A}" type="datetimeFigureOut">
              <a:rPr lang="en-US" smtClean="0">
                <a:latin typeface="Arial" panose="020B0604020202020204" pitchFamily="34" charset="0"/>
              </a:rPr>
              <a:t>11/17/21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F4C6DB5-E984-4AE9-9089-F22A38E7D4C3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372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98473DE8-3BFE-42A5-AEF7-7490925BC062}" type="datetimeFigureOut">
              <a:rPr lang="en-US" smtClean="0"/>
              <a:pPr/>
              <a:t>11/17/21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1C048C5-34BA-425B-9661-CE5202DCE8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160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048C5-34BA-425B-9661-CE5202DCE817}" type="slidenum">
              <a:rPr lang="en-US" smtClean="0"/>
              <a:pPr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819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C048C5-34BA-425B-9661-CE5202DCE817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8277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048C5-34BA-425B-9661-CE5202DCE81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22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048C5-34BA-425B-9661-CE5202DCE81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88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C048C5-34BA-425B-9661-CE5202DCE817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9938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C048C5-34BA-425B-9661-CE5202DCE817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7202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C048C5-34BA-425B-9661-CE5202DCE817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93041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C048C5-34BA-425B-9661-CE5202DCE817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1061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C048C5-34BA-425B-9661-CE5202DCE817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6880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C048C5-34BA-425B-9661-CE5202DCE817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7125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C048C5-34BA-425B-9661-CE5202DCE817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4978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C048C5-34BA-425B-9661-CE5202DCE817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5845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C048C5-34BA-425B-9661-CE5202DCE817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683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C048C5-34BA-425B-9661-CE5202DCE817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47932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048C5-34BA-425B-9661-CE5202DCE81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17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048C5-34BA-425B-9661-CE5202DCE81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374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048C5-34BA-425B-9661-CE5202DCE81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163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048C5-34BA-425B-9661-CE5202DCE81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848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048C5-34BA-425B-9661-CE5202DCE81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966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048C5-34BA-425B-9661-CE5202DCE817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534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C048C5-34BA-425B-9661-CE5202DCE817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63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E0D0E1E-5CAD-4140-ADE5-58EA2AE6DCB5}"/>
              </a:ext>
            </a:extLst>
          </p:cNvPr>
          <p:cNvSpPr txBox="1"/>
          <p:nvPr userDrawn="1"/>
        </p:nvSpPr>
        <p:spPr>
          <a:xfrm>
            <a:off x="4111690" y="59529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0C3DB08-8958-C64A-A517-2C1FA1B504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1681" y="181323"/>
            <a:ext cx="7900639" cy="45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Rectangle 24">
            <a:extLst>
              <a:ext uri="{FF2B5EF4-FFF2-40B4-BE49-F238E27FC236}">
                <a16:creationId xmlns:a16="http://schemas.microsoft.com/office/drawing/2014/main" id="{E3651568-3B1B-3048-80AA-3851100D24B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3015" y="6397096"/>
            <a:ext cx="430934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93" b="0" i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5A7D59A-BE94-42CC-AE03-5F3AD26B16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19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C249659-0C50-A945-8D2B-92CDD5B02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1681" y="181323"/>
            <a:ext cx="7900639" cy="45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Rectangle 24">
            <a:extLst>
              <a:ext uri="{FF2B5EF4-FFF2-40B4-BE49-F238E27FC236}">
                <a16:creationId xmlns:a16="http://schemas.microsoft.com/office/drawing/2014/main" id="{77F53014-6F44-D64F-BD3C-D082DAAD3D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3015" y="6397096"/>
            <a:ext cx="430934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93" b="0" i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5A7D59A-BE94-42CC-AE03-5F3AD26B16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137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80587-0465-FD4B-A930-A83A1A11D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B5BBD-05B5-4B45-BF4A-537A47105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9F4CC-3B5A-1240-B7D4-747AF2AA7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FD39-6D2B-EC4E-B8C7-DA2F54E9ABF2}" type="datetimeFigureOut">
              <a:rPr lang="en-US" smtClean="0"/>
              <a:t>11/17/21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A7FC2-0425-6946-82A1-FA3F53D08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C9E6F-8262-7148-87B6-317071CC4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3188-AF9A-6F4B-8540-A3F85176F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23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9">
            <a:extLst>
              <a:ext uri="{FF2B5EF4-FFF2-40B4-BE49-F238E27FC236}">
                <a16:creationId xmlns:a16="http://schemas.microsoft.com/office/drawing/2014/main" id="{8B9E2454-E462-4A4B-BF8D-D3881095CB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821402"/>
            <a:ext cx="9144000" cy="45719"/>
          </a:xfrm>
          <a:prstGeom prst="rect">
            <a:avLst/>
          </a:prstGeom>
          <a:gradFill rotWithShape="0">
            <a:gsLst>
              <a:gs pos="2000">
                <a:srgbClr val="000068"/>
              </a:gs>
              <a:gs pos="52000">
                <a:schemeClr val="tx2">
                  <a:lumMod val="20000"/>
                  <a:lumOff val="80000"/>
                </a:schemeClr>
              </a:gs>
              <a:gs pos="89000">
                <a:schemeClr val="bg1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>
              <a:spcBef>
                <a:spcPct val="50000"/>
              </a:spcBef>
              <a:defRPr/>
            </a:pPr>
            <a:endParaRPr lang="zh-CN" altLang="en-US" sz="1600">
              <a:latin typeface="+mj-ea"/>
              <a:ea typeface="+mj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88487AF-C8B0-6246-8DFB-DF4A74A74F21}"/>
              </a:ext>
            </a:extLst>
          </p:cNvPr>
          <p:cNvGrpSpPr/>
          <p:nvPr userDrawn="1"/>
        </p:nvGrpSpPr>
        <p:grpSpPr>
          <a:xfrm>
            <a:off x="69979" y="6266445"/>
            <a:ext cx="2405916" cy="548640"/>
            <a:chOff x="563782" y="4697289"/>
            <a:chExt cx="2405916" cy="548640"/>
          </a:xfrm>
        </p:grpSpPr>
        <p:pic>
          <p:nvPicPr>
            <p:cNvPr id="1028" name="Picture 4" descr="Chemistry at Illinois (@ChemistryUIUC) | Twitter">
              <a:extLst>
                <a:ext uri="{FF2B5EF4-FFF2-40B4-BE49-F238E27FC236}">
                  <a16:creationId xmlns:a16="http://schemas.microsoft.com/office/drawing/2014/main" id="{BFC89EE0-FC01-E64B-BE67-F44CE0207BA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10" t="12066" r="6840" b="11585"/>
            <a:stretch/>
          </p:blipFill>
          <p:spPr bwMode="auto">
            <a:xfrm>
              <a:off x="563782" y="4697289"/>
              <a:ext cx="503377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0D1EFA6-52D6-F941-B9EE-6AF59F71D1A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26" b="26631"/>
            <a:stretch/>
          </p:blipFill>
          <p:spPr>
            <a:xfrm>
              <a:off x="976847" y="4697289"/>
              <a:ext cx="1992851" cy="548640"/>
            </a:xfrm>
            <a:prstGeom prst="rect">
              <a:avLst/>
            </a:prstGeom>
          </p:spPr>
        </p:pic>
      </p:grpSp>
      <p:sp>
        <p:nvSpPr>
          <p:cNvPr id="9" name="Rectangle 24">
            <a:extLst>
              <a:ext uri="{FF2B5EF4-FFF2-40B4-BE49-F238E27FC236}">
                <a16:creationId xmlns:a16="http://schemas.microsoft.com/office/drawing/2014/main" id="{3D40A000-B225-2747-A159-BB23292A288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3015" y="6397096"/>
            <a:ext cx="430934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93" b="0" i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5A7D59A-BE94-42CC-AE03-5F3AD26B16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Rectangle 99">
            <a:extLst>
              <a:ext uri="{FF2B5EF4-FFF2-40B4-BE49-F238E27FC236}">
                <a16:creationId xmlns:a16="http://schemas.microsoft.com/office/drawing/2014/main" id="{C44227AB-53AE-C445-BA04-D4E64449FA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173759"/>
            <a:ext cx="9144000" cy="45719"/>
          </a:xfrm>
          <a:prstGeom prst="rect">
            <a:avLst/>
          </a:prstGeom>
          <a:gradFill flip="none" rotWithShape="1">
            <a:gsLst>
              <a:gs pos="2000">
                <a:srgbClr val="000068"/>
              </a:gs>
              <a:gs pos="52000">
                <a:schemeClr val="tx2">
                  <a:lumMod val="20000"/>
                  <a:lumOff val="80000"/>
                </a:schemeClr>
              </a:gs>
              <a:gs pos="89000">
                <a:schemeClr val="bg1"/>
              </a:gs>
            </a:gsLst>
            <a:lin ang="108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>
              <a:spcBef>
                <a:spcPct val="50000"/>
              </a:spcBef>
              <a:defRPr/>
            </a:pPr>
            <a:endParaRPr lang="zh-CN" altLang="en-US" sz="1600">
              <a:latin typeface="+mj-ea"/>
              <a:ea typeface="+mj-ea"/>
              <a:cs typeface="+mn-cs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5FE8F11F-D1C9-E14F-95FA-003CE60BFA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1681" y="181323"/>
            <a:ext cx="7900639" cy="45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881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kern="1200">
          <a:solidFill>
            <a:srgbClr val="E84A2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emf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2767-307F-E74C-99ED-10376695A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212" y="2542381"/>
            <a:ext cx="8283575" cy="1773237"/>
          </a:xfrm>
          <a:prstGeom prst="rect">
            <a:avLst/>
          </a:prstGeom>
        </p:spPr>
        <p:txBody>
          <a:bodyPr/>
          <a:lstStyle/>
          <a:p>
            <a:r>
              <a:rPr lang="en-US" sz="3600" b="1" dirty="0">
                <a:cs typeface="Calibri Light" panose="020F0302020204030204"/>
              </a:rPr>
              <a:t>ML-Based Surrogate</a:t>
            </a:r>
            <a:br>
              <a:rPr lang="en-US" sz="3600" b="1" dirty="0">
                <a:cs typeface="Calibri Light" panose="020F0302020204030204"/>
              </a:rPr>
            </a:br>
            <a:r>
              <a:rPr lang="en-US" sz="3600" b="1" dirty="0">
                <a:cs typeface="Calibri Light" panose="020F0302020204030204"/>
              </a:rPr>
              <a:t>for </a:t>
            </a:r>
            <a:br>
              <a:rPr lang="en-US" sz="3600" b="1" dirty="0">
                <a:cs typeface="Calibri Light" panose="020F0302020204030204"/>
              </a:rPr>
            </a:br>
            <a:r>
              <a:rPr lang="en-US" sz="3600" b="1" dirty="0"/>
              <a:t>Non-Equilibrium Chemistry</a:t>
            </a:r>
            <a:endParaRPr lang="en-US" sz="3600" i="1" dirty="0">
              <a:solidFill>
                <a:srgbClr val="E84A27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88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2C95CD-FF2A-E142-AD7F-30D06D88FBA0}"/>
                  </a:ext>
                </a:extLst>
              </p:cNvPr>
              <p:cNvSpPr txBox="1"/>
              <p:nvPr/>
            </p:nvSpPr>
            <p:spPr>
              <a:xfrm>
                <a:off x="486506" y="1051523"/>
                <a:ext cx="8170987" cy="415459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0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Isothermal case</a:t>
                </a:r>
              </a:p>
              <a:p>
                <a:pPr marL="800100" lvl="1" indent="-342900">
                  <a:lnSpc>
                    <a:spcPct val="150000"/>
                  </a:lnSpc>
                  <a:spcBef>
                    <a:spcPts val="50"/>
                  </a:spcBef>
                  <a:spcAft>
                    <a:spcPts val="5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Training Timescale 0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O</m:t>
                        </m:r>
                        <m:r>
                          <a:rPr lang="en-U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O</m:t>
                            </m:r>
                          </m:e>
                          <m:sub>
                            <m:r>
                              <a:rPr lang="en-US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1257300" lvl="2" indent="-342900">
                  <a:lnSpc>
                    <a:spcPct val="150000"/>
                  </a:lnSpc>
                  <a:spcBef>
                    <a:spcPts val="50"/>
                  </a:spcBef>
                  <a:spcAft>
                    <a:spcPts val="50"/>
                  </a:spcAft>
                  <a:buFont typeface="Wingdings" pitchFamily="2" charset="2"/>
                  <a:buChar char="Ø"/>
                </a:pP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points					</a:t>
                </a:r>
                <a:r>
                  <a:rPr lang="en-US" sz="1600" dirty="0">
                    <a:solidFill>
                      <a:schemeClr val="accent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done</a:t>
                </a:r>
              </a:p>
              <a:p>
                <a:pPr marL="1257300" lvl="2" indent="-342900">
                  <a:lnSpc>
                    <a:spcPct val="150000"/>
                  </a:lnSpc>
                  <a:spcBef>
                    <a:spcPts val="50"/>
                  </a:spcBef>
                  <a:spcAft>
                    <a:spcPts val="50"/>
                  </a:spcAft>
                  <a:buFont typeface="Wingdings" pitchFamily="2" charset="2"/>
                  <a:buChar char="Ø"/>
                </a:pP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residual				</a:t>
                </a:r>
                <a:r>
                  <a:rPr lang="en-US" sz="1600" dirty="0">
                    <a:solidFill>
                      <a:schemeClr val="accent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done</a:t>
                </a:r>
              </a:p>
              <a:p>
                <a:pPr marL="800100" lvl="1" indent="-342900">
                  <a:lnSpc>
                    <a:spcPct val="150000"/>
                  </a:lnSpc>
                  <a:spcBef>
                    <a:spcPts val="50"/>
                  </a:spcBef>
                  <a:spcAft>
                    <a:spcPts val="5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Training Timescale 1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𝑂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∀</m:t>
                        </m:r>
                        <m:r>
                          <a:rPr lang="en-U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∈[1:3]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1257300" lvl="2" indent="-342900">
                  <a:lnSpc>
                    <a:spcPct val="150000"/>
                  </a:lnSpc>
                  <a:spcBef>
                    <a:spcPts val="50"/>
                  </a:spcBef>
                  <a:spcAft>
                    <a:spcPts val="50"/>
                  </a:spcAft>
                  <a:buFont typeface="Wingdings" pitchFamily="2" charset="2"/>
                  <a:buChar char="Ø"/>
                </a:pP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points					</a:t>
                </a:r>
                <a:r>
                  <a:rPr lang="en-US" sz="1600" dirty="0">
                    <a:solidFill>
                      <a:schemeClr val="accent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done</a:t>
                </a:r>
              </a:p>
              <a:p>
                <a:pPr marL="1257300" lvl="2" indent="-342900">
                  <a:lnSpc>
                    <a:spcPct val="150000"/>
                  </a:lnSpc>
                  <a:spcBef>
                    <a:spcPts val="50"/>
                  </a:spcBef>
                  <a:spcAft>
                    <a:spcPts val="50"/>
                  </a:spcAft>
                  <a:buFont typeface="Wingdings" pitchFamily="2" charset="2"/>
                  <a:buChar char="Ø"/>
                </a:pP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residual				</a:t>
                </a:r>
                <a:r>
                  <a:rPr lang="en-US" sz="1600" dirty="0">
                    <a:solidFill>
                      <a:schemeClr val="accent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done</a:t>
                </a:r>
              </a:p>
              <a:p>
                <a:pPr marL="800100" lvl="1" indent="-342900">
                  <a:lnSpc>
                    <a:spcPct val="150000"/>
                  </a:lnSpc>
                  <a:spcBef>
                    <a:spcPts val="50"/>
                  </a:spcBef>
                  <a:spcAft>
                    <a:spcPts val="5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Training Timescale 2</a:t>
                </a:r>
                <a:r>
                  <a:rPr lang="en-US" sz="1600" dirty="0">
                    <a:solidFill>
                      <a:schemeClr val="tx1"/>
                    </a:solidFill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O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O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∀</m:t>
                        </m:r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∈[1:9]</m:t>
                        </m:r>
                      </m:e>
                    </m:d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257300" lvl="2" indent="-342900">
                  <a:lnSpc>
                    <a:spcPct val="150000"/>
                  </a:lnSpc>
                  <a:spcBef>
                    <a:spcPts val="50"/>
                  </a:spcBef>
                  <a:spcAft>
                    <a:spcPts val="50"/>
                  </a:spcAft>
                  <a:buFont typeface="Wingdings" pitchFamily="2" charset="2"/>
                  <a:buChar char="Ø"/>
                </a:pP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points					</a:t>
                </a:r>
                <a:r>
                  <a:rPr lang="en-US" sz="1600" dirty="0">
                    <a:solidFill>
                      <a:srgbClr val="FFC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ongoing</a:t>
                </a:r>
              </a:p>
              <a:p>
                <a:pPr marL="1257300" lvl="2" indent="-342900">
                  <a:lnSpc>
                    <a:spcPct val="150000"/>
                  </a:lnSpc>
                  <a:spcBef>
                    <a:spcPts val="50"/>
                  </a:spcBef>
                  <a:spcAft>
                    <a:spcPts val="50"/>
                  </a:spcAft>
                  <a:buFont typeface="Wingdings" pitchFamily="2" charset="2"/>
                  <a:buChar char="Ø"/>
                </a:pP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residual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2C95CD-FF2A-E142-AD7F-30D06D88F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06" y="1051523"/>
                <a:ext cx="8170987" cy="4154599"/>
              </a:xfrm>
              <a:prstGeom prst="rect">
                <a:avLst/>
              </a:prstGeom>
              <a:blipFill>
                <a:blip r:embed="rId3"/>
                <a:stretch>
                  <a:fillRect l="-621"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8C94ADED-2A67-2646-8476-DF279AE96F34}"/>
              </a:ext>
            </a:extLst>
          </p:cNvPr>
          <p:cNvSpPr txBox="1">
            <a:spLocks/>
          </p:cNvSpPr>
          <p:nvPr/>
        </p:nvSpPr>
        <p:spPr>
          <a:xfrm>
            <a:off x="641893" y="133497"/>
            <a:ext cx="7860214" cy="590898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3200" dirty="0">
                <a:solidFill>
                  <a:srgbClr val="E84A27"/>
                </a:solidFill>
                <a:latin typeface="+mn-lt"/>
              </a:rPr>
              <a:t>Training updates</a:t>
            </a:r>
            <a:endParaRPr lang="en-US" sz="3200" kern="0" dirty="0">
              <a:solidFill>
                <a:srgbClr val="E84A27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E227E-E0A1-E04C-952F-F16678AF8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5A7D59A-BE94-42CC-AE03-5F3AD26B166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651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2767-307F-E74C-99ED-10376695A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212" y="2217528"/>
            <a:ext cx="8283575" cy="1773237"/>
          </a:xfrm>
          <a:prstGeom prst="rect">
            <a:avLst/>
          </a:prstGeom>
        </p:spPr>
        <p:txBody>
          <a:bodyPr/>
          <a:lstStyle/>
          <a:p>
            <a:r>
              <a:rPr lang="en-US" sz="4800" b="1" dirty="0">
                <a:cs typeface="Calibri Light" panose="020F0302020204030204"/>
              </a:rPr>
              <a:t>Adaptive</a:t>
            </a:r>
            <a:br>
              <a:rPr lang="en-US" sz="4800" b="1" dirty="0">
                <a:cs typeface="Calibri Light" panose="020F0302020204030204"/>
              </a:rPr>
            </a:br>
            <a:r>
              <a:rPr lang="en-US" sz="4800" b="1" dirty="0">
                <a:cs typeface="Calibri Light" panose="020F0302020204030204"/>
              </a:rPr>
              <a:t>nonequilibrium</a:t>
            </a:r>
            <a:br>
              <a:rPr lang="en-US" sz="4800" b="1" dirty="0">
                <a:cs typeface="Calibri Light" panose="020F0302020204030204"/>
              </a:rPr>
            </a:br>
            <a:r>
              <a:rPr lang="en-US" sz="4800" b="1" dirty="0">
                <a:cs typeface="Calibri Light" panose="020F0302020204030204"/>
              </a:rPr>
              <a:t>strategy</a:t>
            </a:r>
            <a:endParaRPr lang="en-US" sz="4800" i="1" dirty="0">
              <a:solidFill>
                <a:srgbClr val="E84A27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812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2767-307F-E74C-99ED-10376695A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212" y="2217528"/>
            <a:ext cx="8283575" cy="1773237"/>
          </a:xfrm>
          <a:prstGeom prst="rect">
            <a:avLst/>
          </a:prstGeom>
        </p:spPr>
        <p:txBody>
          <a:bodyPr/>
          <a:lstStyle/>
          <a:p>
            <a:r>
              <a:rPr lang="en-US" sz="4800" b="1" dirty="0">
                <a:cs typeface="Calibri Light" panose="020F0302020204030204"/>
              </a:rPr>
              <a:t>Adaptive</a:t>
            </a:r>
            <a:br>
              <a:rPr lang="en-US" sz="4800" b="1" dirty="0">
                <a:cs typeface="Calibri Light" panose="020F0302020204030204"/>
              </a:rPr>
            </a:br>
            <a:r>
              <a:rPr lang="en-US" sz="4800" b="1" dirty="0">
                <a:cs typeface="Calibri Light" panose="020F0302020204030204"/>
              </a:rPr>
              <a:t>Nonequilibrium strategy</a:t>
            </a:r>
            <a:br>
              <a:rPr lang="en-US" sz="4800" b="1" dirty="0">
                <a:cs typeface="Calibri Light" panose="020F0302020204030204"/>
              </a:rPr>
            </a:br>
            <a:br>
              <a:rPr lang="en-US" sz="1200" i="1" dirty="0">
                <a:cs typeface="Calibri Light" panose="020F0302020204030204"/>
              </a:rPr>
            </a:br>
            <a:r>
              <a:rPr lang="en-US" i="1" dirty="0">
                <a:cs typeface="Calibri Light" panose="020F0302020204030204"/>
              </a:rPr>
              <a:t>Nonequilibrium factor:</a:t>
            </a:r>
            <a:br>
              <a:rPr lang="en-US" i="1" dirty="0">
                <a:cs typeface="Calibri Light" panose="020F0302020204030204"/>
              </a:rPr>
            </a:br>
            <a:r>
              <a:rPr lang="en-US" i="1" dirty="0">
                <a:cs typeface="Calibri Light" panose="020F0302020204030204"/>
              </a:rPr>
              <a:t>definition &amp; calibration</a:t>
            </a:r>
            <a:endParaRPr lang="en-US" sz="3000" i="1" dirty="0">
              <a:solidFill>
                <a:srgbClr val="E84A27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123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C94ADED-2A67-2646-8476-DF279AE96F34}"/>
              </a:ext>
            </a:extLst>
          </p:cNvPr>
          <p:cNvSpPr txBox="1">
            <a:spLocks/>
          </p:cNvSpPr>
          <p:nvPr/>
        </p:nvSpPr>
        <p:spPr>
          <a:xfrm>
            <a:off x="430794" y="133497"/>
            <a:ext cx="8282413" cy="590898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dirty="0">
                <a:solidFill>
                  <a:srgbClr val="E84A27"/>
                </a:solidFill>
                <a:latin typeface="+mn-lt"/>
                <a:cs typeface="Calibri Light" panose="020F0302020204030204"/>
              </a:rPr>
              <a:t>Nonequilibrium factor: definition</a:t>
            </a:r>
            <a:endParaRPr lang="en-US" sz="2800" kern="0" dirty="0">
              <a:solidFill>
                <a:srgbClr val="E84A27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E227E-E0A1-E04C-952F-F16678AF8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5A7D59A-BE94-42CC-AE03-5F3AD26B166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74" name="Picture 7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094C6A8-EFF2-A549-8AB2-59E2C9F861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05" y="911287"/>
            <a:ext cx="6379633" cy="39319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DC34B64-F8E4-AB43-9771-72E87F51C2B5}"/>
                  </a:ext>
                </a:extLst>
              </p:cNvPr>
              <p:cNvSpPr txBox="1"/>
              <p:nvPr/>
            </p:nvSpPr>
            <p:spPr>
              <a:xfrm>
                <a:off x="486505" y="4914571"/>
                <a:ext cx="5449460" cy="10321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spcBef>
                    <a:spcPts val="50"/>
                  </a:spcBef>
                  <a:spcAft>
                    <a:spcPts val="5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𝜖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(⋅)</m:t>
                        </m:r>
                      </m:sup>
                    </m:sSup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should contain information about the </a:t>
                </a: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fastest timescale</a:t>
                </a:r>
              </a:p>
              <a:p>
                <a:pPr marL="285750" indent="-285750">
                  <a:spcBef>
                    <a:spcPts val="50"/>
                  </a:spcBef>
                  <a:spcAft>
                    <a:spcPts val="5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𝜖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(⋅)</m:t>
                        </m:r>
                      </m:sup>
                    </m:sSup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defined on the basis of </a:t>
                </a:r>
                <a:r>
                  <a:rPr lang="en-US" sz="1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Maximum Entropy principle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offset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Δ</m:t>
                    </m:r>
                    <m:r>
                      <a:rPr lang="en-US" sz="1400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𝜶</m:t>
                    </m:r>
                  </m:oMath>
                </a14:m>
                <a:endParaRPr lang="en-US" sz="14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50"/>
                  </a:spcBef>
                  <a:spcAft>
                    <a:spcPts val="5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𝜖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(⋅)</m:t>
                        </m:r>
                      </m:sup>
                    </m:sSup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has to be </a:t>
                </a: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learned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 someway (e.g., DeepONet)                            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after having trained the mass fractions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DC34B64-F8E4-AB43-9771-72E87F51C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05" y="4914571"/>
                <a:ext cx="5449460" cy="1032142"/>
              </a:xfrm>
              <a:prstGeom prst="rect">
                <a:avLst/>
              </a:prstGeom>
              <a:blipFill>
                <a:blip r:embed="rId4"/>
                <a:stretch>
                  <a:fillRect l="-233" b="-6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FB2EF05E-A28E-C148-A850-06A76BEC3EA6}"/>
              </a:ext>
            </a:extLst>
          </p:cNvPr>
          <p:cNvGrpSpPr/>
          <p:nvPr/>
        </p:nvGrpSpPr>
        <p:grpSpPr>
          <a:xfrm>
            <a:off x="7050722" y="4311580"/>
            <a:ext cx="1866827" cy="1709378"/>
            <a:chOff x="9246126" y="3922780"/>
            <a:chExt cx="1866827" cy="1709378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F2B3CE4-8927-BB4A-94B0-8A612CAF16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2161" y="5628492"/>
              <a:ext cx="1490792" cy="36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44DDEE6-5779-5D48-82B0-B1344D289505}"/>
                </a:ext>
              </a:extLst>
            </p:cNvPr>
            <p:cNvGrpSpPr/>
            <p:nvPr/>
          </p:nvGrpSpPr>
          <p:grpSpPr>
            <a:xfrm>
              <a:off x="9246126" y="3922780"/>
              <a:ext cx="1728810" cy="1709378"/>
              <a:chOff x="8833004" y="3618692"/>
              <a:chExt cx="2144211" cy="2013466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8A3D1631-53F1-7846-91F8-443588E904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99393" y="3803358"/>
                <a:ext cx="0" cy="18288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A6FDF23-893D-B946-B080-0D09ACCD0E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9393" y="4112394"/>
                <a:ext cx="1666068" cy="1213363"/>
              </a:xfrm>
              <a:prstGeom prst="line">
                <a:avLst/>
              </a:prstGeom>
              <a:ln w="12700">
                <a:solidFill>
                  <a:srgbClr val="C0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0EC45DAF-A967-394B-8E2A-006352373E5E}"/>
                      </a:ext>
                    </a:extLst>
                  </p:cNvPr>
                  <p:cNvSpPr txBox="1"/>
                  <p:nvPr/>
                </p:nvSpPr>
                <p:spPr>
                  <a:xfrm>
                    <a:off x="8833004" y="3618692"/>
                    <a:ext cx="44525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0EC45DAF-A967-394B-8E2A-006352373E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33004" y="3618692"/>
                    <a:ext cx="44525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923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FA37B73-E754-0E4A-9D12-4AD2A6D7F4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20534" y="4131806"/>
                <a:ext cx="579120" cy="418530"/>
              </a:xfrm>
              <a:prstGeom prst="line">
                <a:avLst/>
              </a:prstGeom>
              <a:ln w="25400">
                <a:solidFill>
                  <a:srgbClr val="4E8D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685F5C0-6015-884E-AAB7-083192D4AC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01554" y="4548477"/>
                <a:ext cx="579120" cy="441760"/>
              </a:xfrm>
              <a:prstGeom prst="line">
                <a:avLst/>
              </a:prstGeom>
              <a:ln w="25400">
                <a:solidFill>
                  <a:srgbClr val="4E8D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4967D706-8F22-B248-8612-1C474D5DDD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72873" y="4985842"/>
                <a:ext cx="477348" cy="339915"/>
              </a:xfrm>
              <a:prstGeom prst="line">
                <a:avLst/>
              </a:prstGeom>
              <a:ln w="25400">
                <a:solidFill>
                  <a:srgbClr val="4E8D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F3F0309-C7D5-104B-B6BD-836B95A62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9392" y="4119733"/>
                <a:ext cx="226776" cy="165383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3233EDE-4F44-984E-9E60-9327CE6B9A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0428" y="4285116"/>
                <a:ext cx="226776" cy="165383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1FC77CD-B2CF-C24E-AB39-821B6ED3F0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86746" y="4408183"/>
                <a:ext cx="226776" cy="165383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D3E0D7E-AD56-F74E-B4C5-3BB14D56DE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13522" y="4559550"/>
                <a:ext cx="226776" cy="165383"/>
              </a:xfrm>
              <a:prstGeom prst="line">
                <a:avLst/>
              </a:prstGeom>
              <a:ln w="254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69B16BEB-A4A9-D84D-99C2-BE168C2119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57006" y="4736678"/>
                <a:ext cx="226776" cy="165383"/>
              </a:xfrm>
              <a:prstGeom prst="line">
                <a:avLst/>
              </a:prstGeom>
              <a:ln w="254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D729A813-43B5-CC4C-A8E7-F2EF4A1425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81365" y="4905243"/>
                <a:ext cx="131872" cy="102613"/>
              </a:xfrm>
              <a:prstGeom prst="line">
                <a:avLst/>
              </a:prstGeom>
              <a:ln w="254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DDC7BF86-5C8B-8D44-8F90-8621C540A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2900" y="4825057"/>
                <a:ext cx="178748" cy="134149"/>
              </a:xfrm>
              <a:prstGeom prst="line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9D4E7EA-8D7E-D047-80DE-4B0FAF6F15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74520" y="5269151"/>
                <a:ext cx="180589" cy="127255"/>
              </a:xfrm>
              <a:prstGeom prst="line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01E53A36-9E7D-EF47-9FB7-2CBC706BFF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0863" y="5159248"/>
                <a:ext cx="176352" cy="117932"/>
              </a:xfrm>
              <a:prstGeom prst="line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B81F71F-1D20-F949-A703-C1ED24536C75}"/>
              </a:ext>
            </a:extLst>
          </p:cNvPr>
          <p:cNvCxnSpPr>
            <a:cxnSpLocks/>
          </p:cNvCxnSpPr>
          <p:nvPr/>
        </p:nvCxnSpPr>
        <p:spPr>
          <a:xfrm>
            <a:off x="8549288" y="5616542"/>
            <a:ext cx="0" cy="1672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E5240273-8FE8-BF45-B03F-92CBAF9F589E}"/>
              </a:ext>
            </a:extLst>
          </p:cNvPr>
          <p:cNvCxnSpPr>
            <a:cxnSpLocks/>
          </p:cNvCxnSpPr>
          <p:nvPr/>
        </p:nvCxnSpPr>
        <p:spPr>
          <a:xfrm>
            <a:off x="5828754" y="5335751"/>
            <a:ext cx="2648474" cy="34519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9ACABA4-E8DF-174F-ACD1-48E19E02E6FD}"/>
              </a:ext>
            </a:extLst>
          </p:cNvPr>
          <p:cNvCxnSpPr>
            <a:cxnSpLocks/>
          </p:cNvCxnSpPr>
          <p:nvPr/>
        </p:nvCxnSpPr>
        <p:spPr>
          <a:xfrm>
            <a:off x="5199930" y="5100942"/>
            <a:ext cx="2020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269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C94ADED-2A67-2646-8476-DF279AE96F34}"/>
              </a:ext>
            </a:extLst>
          </p:cNvPr>
          <p:cNvSpPr txBox="1">
            <a:spLocks/>
          </p:cNvSpPr>
          <p:nvPr/>
        </p:nvSpPr>
        <p:spPr>
          <a:xfrm>
            <a:off x="430794" y="133497"/>
            <a:ext cx="8282413" cy="590898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dirty="0">
                <a:solidFill>
                  <a:srgbClr val="E84A27"/>
                </a:solidFill>
                <a:latin typeface="+mn-lt"/>
                <a:cs typeface="Calibri Light" panose="020F0302020204030204"/>
              </a:rPr>
              <a:t>Nonequilibrium factor: definition</a:t>
            </a:r>
            <a:endParaRPr lang="en-US" sz="2800" kern="0" dirty="0">
              <a:solidFill>
                <a:srgbClr val="E84A27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E227E-E0A1-E04C-952F-F16678AF8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5A7D59A-BE94-42CC-AE03-5F3AD26B166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74" name="Picture 7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094C6A8-EFF2-A549-8AB2-59E2C9F861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05" y="911287"/>
            <a:ext cx="6379633" cy="39319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DC34B64-F8E4-AB43-9771-72E87F51C2B5}"/>
                  </a:ext>
                </a:extLst>
              </p:cNvPr>
              <p:cNvSpPr txBox="1"/>
              <p:nvPr/>
            </p:nvSpPr>
            <p:spPr>
              <a:xfrm>
                <a:off x="486505" y="4914571"/>
                <a:ext cx="5449460" cy="10321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spcBef>
                    <a:spcPts val="50"/>
                  </a:spcBef>
                  <a:spcAft>
                    <a:spcPts val="5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𝜖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(⋅)</m:t>
                        </m:r>
                      </m:sup>
                    </m:sSup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should contain information about the </a:t>
                </a: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fastest timescale</a:t>
                </a:r>
              </a:p>
              <a:p>
                <a:pPr marL="285750" indent="-285750">
                  <a:spcBef>
                    <a:spcPts val="50"/>
                  </a:spcBef>
                  <a:spcAft>
                    <a:spcPts val="5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𝜖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(⋅)</m:t>
                        </m:r>
                      </m:sup>
                    </m:sSup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defined on the basis of </a:t>
                </a:r>
                <a:r>
                  <a:rPr lang="en-US" sz="1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Maximum Entropy principle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offset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Δ</m:t>
                    </m:r>
                    <m:r>
                      <a:rPr lang="en-US" sz="1400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𝜶</m:t>
                    </m:r>
                  </m:oMath>
                </a14:m>
                <a:endParaRPr lang="en-US" sz="14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50"/>
                  </a:spcBef>
                  <a:spcAft>
                    <a:spcPts val="5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𝜖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(⋅)</m:t>
                        </m:r>
                      </m:sup>
                    </m:sSup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has to be </a:t>
                </a: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learned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 someway (e.g., DeepONet)                             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after having trained the mass fractions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DC34B64-F8E4-AB43-9771-72E87F51C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05" y="4914571"/>
                <a:ext cx="5449460" cy="1032142"/>
              </a:xfrm>
              <a:prstGeom prst="rect">
                <a:avLst/>
              </a:prstGeom>
              <a:blipFill>
                <a:blip r:embed="rId4"/>
                <a:stretch>
                  <a:fillRect l="-233" b="-6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FB2EF05E-A28E-C148-A850-06A76BEC3EA6}"/>
              </a:ext>
            </a:extLst>
          </p:cNvPr>
          <p:cNvGrpSpPr/>
          <p:nvPr/>
        </p:nvGrpSpPr>
        <p:grpSpPr>
          <a:xfrm>
            <a:off x="7050722" y="4311580"/>
            <a:ext cx="1866827" cy="1709378"/>
            <a:chOff x="9246126" y="3922780"/>
            <a:chExt cx="1866827" cy="1709378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F2B3CE4-8927-BB4A-94B0-8A612CAF16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2161" y="5628492"/>
              <a:ext cx="1490792" cy="36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44DDEE6-5779-5D48-82B0-B1344D289505}"/>
                </a:ext>
              </a:extLst>
            </p:cNvPr>
            <p:cNvGrpSpPr/>
            <p:nvPr/>
          </p:nvGrpSpPr>
          <p:grpSpPr>
            <a:xfrm>
              <a:off x="9246126" y="3922780"/>
              <a:ext cx="1728810" cy="1709378"/>
              <a:chOff x="8833004" y="3618692"/>
              <a:chExt cx="2144211" cy="2013466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8A3D1631-53F1-7846-91F8-443588E904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99393" y="3803358"/>
                <a:ext cx="0" cy="18288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A6FDF23-893D-B946-B080-0D09ACCD0E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9393" y="4112394"/>
                <a:ext cx="1666068" cy="1213363"/>
              </a:xfrm>
              <a:prstGeom prst="line">
                <a:avLst/>
              </a:prstGeom>
              <a:ln w="12700">
                <a:solidFill>
                  <a:srgbClr val="C0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0EC45DAF-A967-394B-8E2A-006352373E5E}"/>
                      </a:ext>
                    </a:extLst>
                  </p:cNvPr>
                  <p:cNvSpPr txBox="1"/>
                  <p:nvPr/>
                </p:nvSpPr>
                <p:spPr>
                  <a:xfrm>
                    <a:off x="8833004" y="3618692"/>
                    <a:ext cx="44525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0EC45DAF-A967-394B-8E2A-006352373E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33004" y="3618692"/>
                    <a:ext cx="44525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923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FA37B73-E754-0E4A-9D12-4AD2A6D7F4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20534" y="4131806"/>
                <a:ext cx="579120" cy="418530"/>
              </a:xfrm>
              <a:prstGeom prst="line">
                <a:avLst/>
              </a:prstGeom>
              <a:ln w="25400">
                <a:solidFill>
                  <a:srgbClr val="4E8D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685F5C0-6015-884E-AAB7-083192D4AC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01554" y="4548477"/>
                <a:ext cx="579120" cy="441760"/>
              </a:xfrm>
              <a:prstGeom prst="line">
                <a:avLst/>
              </a:prstGeom>
              <a:ln w="25400">
                <a:solidFill>
                  <a:srgbClr val="4E8D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4967D706-8F22-B248-8612-1C474D5DDD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72873" y="4985842"/>
                <a:ext cx="477348" cy="339915"/>
              </a:xfrm>
              <a:prstGeom prst="line">
                <a:avLst/>
              </a:prstGeom>
              <a:ln w="25400">
                <a:solidFill>
                  <a:srgbClr val="4E8D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F3F0309-C7D5-104B-B6BD-836B95A62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9392" y="4119733"/>
                <a:ext cx="226776" cy="165383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3233EDE-4F44-984E-9E60-9327CE6B9A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0428" y="4285116"/>
                <a:ext cx="226776" cy="165383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1FC77CD-B2CF-C24E-AB39-821B6ED3F0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86746" y="4408183"/>
                <a:ext cx="226776" cy="165383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D3E0D7E-AD56-F74E-B4C5-3BB14D56DE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13522" y="4559550"/>
                <a:ext cx="226776" cy="165383"/>
              </a:xfrm>
              <a:prstGeom prst="line">
                <a:avLst/>
              </a:prstGeom>
              <a:ln w="254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69B16BEB-A4A9-D84D-99C2-BE168C2119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57006" y="4736678"/>
                <a:ext cx="226776" cy="165383"/>
              </a:xfrm>
              <a:prstGeom prst="line">
                <a:avLst/>
              </a:prstGeom>
              <a:ln w="254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D729A813-43B5-CC4C-A8E7-F2EF4A1425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81365" y="4905243"/>
                <a:ext cx="131872" cy="102613"/>
              </a:xfrm>
              <a:prstGeom prst="line">
                <a:avLst/>
              </a:prstGeom>
              <a:ln w="254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DDC7BF86-5C8B-8D44-8F90-8621C540A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2900" y="4825057"/>
                <a:ext cx="178748" cy="134149"/>
              </a:xfrm>
              <a:prstGeom prst="line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9D4E7EA-8D7E-D047-80DE-4B0FAF6F15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74520" y="5269151"/>
                <a:ext cx="180589" cy="127255"/>
              </a:xfrm>
              <a:prstGeom prst="line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01E53A36-9E7D-EF47-9FB7-2CBC706BFF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0863" y="5159248"/>
                <a:ext cx="176352" cy="117932"/>
              </a:xfrm>
              <a:prstGeom prst="line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B81F71F-1D20-F949-A703-C1ED24536C75}"/>
              </a:ext>
            </a:extLst>
          </p:cNvPr>
          <p:cNvCxnSpPr>
            <a:cxnSpLocks/>
          </p:cNvCxnSpPr>
          <p:nvPr/>
        </p:nvCxnSpPr>
        <p:spPr>
          <a:xfrm>
            <a:off x="8549288" y="5616542"/>
            <a:ext cx="0" cy="1672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E5240273-8FE8-BF45-B03F-92CBAF9F589E}"/>
              </a:ext>
            </a:extLst>
          </p:cNvPr>
          <p:cNvCxnSpPr>
            <a:cxnSpLocks/>
          </p:cNvCxnSpPr>
          <p:nvPr/>
        </p:nvCxnSpPr>
        <p:spPr>
          <a:xfrm>
            <a:off x="5828754" y="5335751"/>
            <a:ext cx="2648474" cy="34519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9ACABA4-E8DF-174F-ACD1-48E19E02E6FD}"/>
              </a:ext>
            </a:extLst>
          </p:cNvPr>
          <p:cNvCxnSpPr>
            <a:cxnSpLocks/>
          </p:cNvCxnSpPr>
          <p:nvPr/>
        </p:nvCxnSpPr>
        <p:spPr>
          <a:xfrm>
            <a:off x="5199930" y="5100942"/>
            <a:ext cx="2020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122AF2E5-5D98-5C48-BE62-B92B6068FD2A}"/>
              </a:ext>
            </a:extLst>
          </p:cNvPr>
          <p:cNvSpPr/>
          <p:nvPr/>
        </p:nvSpPr>
        <p:spPr>
          <a:xfrm>
            <a:off x="6241312" y="1500928"/>
            <a:ext cx="701747" cy="817753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32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A2F1165-FEB5-BB47-8752-788E129F7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695" y="1968763"/>
            <a:ext cx="5360604" cy="40233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2C95CD-FF2A-E142-AD7F-30D06D88FBA0}"/>
                  </a:ext>
                </a:extLst>
              </p:cNvPr>
              <p:cNvSpPr txBox="1"/>
              <p:nvPr/>
            </p:nvSpPr>
            <p:spPr>
              <a:xfrm>
                <a:off x="486507" y="925281"/>
                <a:ext cx="8170987" cy="122674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Timescales 2-to-3</a:t>
                </a:r>
              </a:p>
              <a:p>
                <a:pPr algn="ctr"/>
                <a:endParaRPr lang="en-US" sz="400" b="1" dirty="0">
                  <a:solidFill>
                    <a:schemeClr val="accent6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2C95CD-FF2A-E142-AD7F-30D06D88F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07" y="925281"/>
                <a:ext cx="8170987" cy="1226746"/>
              </a:xfrm>
              <a:prstGeom prst="rect">
                <a:avLst/>
              </a:prstGeom>
              <a:blipFill>
                <a:blip r:embed="rId4"/>
                <a:stretch>
                  <a:fillRect t="-40816" b="-103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8C94ADED-2A67-2646-8476-DF279AE96F34}"/>
              </a:ext>
            </a:extLst>
          </p:cNvPr>
          <p:cNvSpPr txBox="1">
            <a:spLocks/>
          </p:cNvSpPr>
          <p:nvPr/>
        </p:nvSpPr>
        <p:spPr>
          <a:xfrm>
            <a:off x="641893" y="133497"/>
            <a:ext cx="7860214" cy="590898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dirty="0">
                <a:solidFill>
                  <a:srgbClr val="E84A27"/>
                </a:solidFill>
                <a:latin typeface="+mn-lt"/>
                <a:cs typeface="Calibri Light" panose="020F0302020204030204"/>
              </a:rPr>
              <a:t>Nonequilibrium factor: definition</a:t>
            </a:r>
            <a:endParaRPr lang="en-US" sz="2800" kern="0" dirty="0">
              <a:solidFill>
                <a:srgbClr val="E84A27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E227E-E0A1-E04C-952F-F16678AF8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5A7D59A-BE94-42CC-AE03-5F3AD26B166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18AC38F-3AF8-3D49-8A57-5BDAF7871481}"/>
              </a:ext>
            </a:extLst>
          </p:cNvPr>
          <p:cNvCxnSpPr>
            <a:cxnSpLocks/>
          </p:cNvCxnSpPr>
          <p:nvPr/>
        </p:nvCxnSpPr>
        <p:spPr>
          <a:xfrm>
            <a:off x="6343650" y="5090746"/>
            <a:ext cx="0" cy="228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875B292D-C00D-9846-A292-FA856F4A878F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6343650" y="4730782"/>
            <a:ext cx="618651" cy="47426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0D111B1-6904-3B4E-B4BB-A131DD0EFFC9}"/>
                  </a:ext>
                </a:extLst>
              </p:cNvPr>
              <p:cNvSpPr txBox="1"/>
              <p:nvPr/>
            </p:nvSpPr>
            <p:spPr>
              <a:xfrm>
                <a:off x="6962301" y="4536722"/>
                <a:ext cx="2041648" cy="3881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0D111B1-6904-3B4E-B4BB-A131DD0EF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301" y="4536722"/>
                <a:ext cx="2041648" cy="388120"/>
              </a:xfrm>
              <a:prstGeom prst="rect">
                <a:avLst/>
              </a:prstGeom>
              <a:blipFill>
                <a:blip r:embed="rId5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99B5FF5-9BE6-F44F-88AC-F12E32E250FF}"/>
                  </a:ext>
                </a:extLst>
              </p:cNvPr>
              <p:cNvSpPr txBox="1"/>
              <p:nvPr/>
            </p:nvSpPr>
            <p:spPr>
              <a:xfrm>
                <a:off x="140045" y="3352859"/>
                <a:ext cx="1581012" cy="1255167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Offset of the linear curve:</a:t>
                </a:r>
              </a:p>
              <a:p>
                <a:pPr algn="ctr"/>
                <a:endParaRPr lang="en-US" sz="7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1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99B5FF5-9BE6-F44F-88AC-F12E32E25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45" y="3352859"/>
                <a:ext cx="1581012" cy="125516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6641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C94ADED-2A67-2646-8476-DF279AE96F34}"/>
              </a:ext>
            </a:extLst>
          </p:cNvPr>
          <p:cNvSpPr txBox="1">
            <a:spLocks/>
          </p:cNvSpPr>
          <p:nvPr/>
        </p:nvSpPr>
        <p:spPr>
          <a:xfrm>
            <a:off x="430794" y="133497"/>
            <a:ext cx="8282413" cy="590898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dirty="0">
                <a:solidFill>
                  <a:srgbClr val="E84A27"/>
                </a:solidFill>
                <a:latin typeface="+mn-lt"/>
                <a:cs typeface="Calibri Light" panose="020F0302020204030204"/>
              </a:rPr>
              <a:t>Nonequilibrium factor: definition</a:t>
            </a:r>
            <a:endParaRPr lang="en-US" sz="2800" kern="0" dirty="0">
              <a:solidFill>
                <a:srgbClr val="E84A27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E227E-E0A1-E04C-952F-F16678AF8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5A7D59A-BE94-42CC-AE03-5F3AD26B166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74" name="Picture 7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094C6A8-EFF2-A549-8AB2-59E2C9F861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05" y="911287"/>
            <a:ext cx="6379633" cy="39319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DC34B64-F8E4-AB43-9771-72E87F51C2B5}"/>
                  </a:ext>
                </a:extLst>
              </p:cNvPr>
              <p:cNvSpPr txBox="1"/>
              <p:nvPr/>
            </p:nvSpPr>
            <p:spPr>
              <a:xfrm>
                <a:off x="486505" y="4914571"/>
                <a:ext cx="5449460" cy="10321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spcBef>
                    <a:spcPts val="50"/>
                  </a:spcBef>
                  <a:spcAft>
                    <a:spcPts val="5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𝜖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(⋅)</m:t>
                        </m:r>
                      </m:sup>
                    </m:sSup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should contain information about the </a:t>
                </a: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fastest timescale</a:t>
                </a:r>
              </a:p>
              <a:p>
                <a:pPr marL="285750" indent="-285750">
                  <a:spcBef>
                    <a:spcPts val="50"/>
                  </a:spcBef>
                  <a:spcAft>
                    <a:spcPts val="5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𝜖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(⋅)</m:t>
                        </m:r>
                      </m:sup>
                    </m:sSup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defined on the basis of </a:t>
                </a:r>
                <a:r>
                  <a:rPr lang="en-US" sz="1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Maximum Entropy principle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offset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Δ</m:t>
                    </m:r>
                    <m:r>
                      <a:rPr lang="en-US" sz="1400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𝜶</m:t>
                    </m:r>
                  </m:oMath>
                </a14:m>
                <a:endParaRPr lang="en-US" sz="14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50"/>
                  </a:spcBef>
                  <a:spcAft>
                    <a:spcPts val="5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𝜖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(⋅)</m:t>
                        </m:r>
                      </m:sup>
                    </m:sSup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has to be </a:t>
                </a: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learned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 someway (e.g., DeepONet)                            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after having trained the mass fractions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DC34B64-F8E4-AB43-9771-72E87F51C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05" y="4914571"/>
                <a:ext cx="5449460" cy="1032142"/>
              </a:xfrm>
              <a:prstGeom prst="rect">
                <a:avLst/>
              </a:prstGeom>
              <a:blipFill>
                <a:blip r:embed="rId4"/>
                <a:stretch>
                  <a:fillRect l="-233" b="-6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FB2EF05E-A28E-C148-A850-06A76BEC3EA6}"/>
              </a:ext>
            </a:extLst>
          </p:cNvPr>
          <p:cNvGrpSpPr/>
          <p:nvPr/>
        </p:nvGrpSpPr>
        <p:grpSpPr>
          <a:xfrm>
            <a:off x="7050722" y="4311580"/>
            <a:ext cx="1866827" cy="1709378"/>
            <a:chOff x="9246126" y="3922780"/>
            <a:chExt cx="1866827" cy="1709378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F2B3CE4-8927-BB4A-94B0-8A612CAF16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2161" y="5628492"/>
              <a:ext cx="1490792" cy="36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44DDEE6-5779-5D48-82B0-B1344D289505}"/>
                </a:ext>
              </a:extLst>
            </p:cNvPr>
            <p:cNvGrpSpPr/>
            <p:nvPr/>
          </p:nvGrpSpPr>
          <p:grpSpPr>
            <a:xfrm>
              <a:off x="9246126" y="3922780"/>
              <a:ext cx="1728810" cy="1709378"/>
              <a:chOff x="8833004" y="3618692"/>
              <a:chExt cx="2144211" cy="2013466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8A3D1631-53F1-7846-91F8-443588E904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99393" y="3803358"/>
                <a:ext cx="0" cy="18288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A6FDF23-893D-B946-B080-0D09ACCD0E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9393" y="4112394"/>
                <a:ext cx="1666068" cy="1213363"/>
              </a:xfrm>
              <a:prstGeom prst="line">
                <a:avLst/>
              </a:prstGeom>
              <a:ln w="12700">
                <a:solidFill>
                  <a:srgbClr val="C0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0EC45DAF-A967-394B-8E2A-006352373E5E}"/>
                      </a:ext>
                    </a:extLst>
                  </p:cNvPr>
                  <p:cNvSpPr txBox="1"/>
                  <p:nvPr/>
                </p:nvSpPr>
                <p:spPr>
                  <a:xfrm>
                    <a:off x="8833004" y="3618692"/>
                    <a:ext cx="44525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0EC45DAF-A967-394B-8E2A-006352373E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33004" y="3618692"/>
                    <a:ext cx="44525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923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FA37B73-E754-0E4A-9D12-4AD2A6D7F4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20534" y="4131806"/>
                <a:ext cx="579120" cy="418530"/>
              </a:xfrm>
              <a:prstGeom prst="line">
                <a:avLst/>
              </a:prstGeom>
              <a:ln w="25400">
                <a:solidFill>
                  <a:srgbClr val="4E8D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685F5C0-6015-884E-AAB7-083192D4AC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01554" y="4548477"/>
                <a:ext cx="579120" cy="441760"/>
              </a:xfrm>
              <a:prstGeom prst="line">
                <a:avLst/>
              </a:prstGeom>
              <a:ln w="25400">
                <a:solidFill>
                  <a:srgbClr val="4E8D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4967D706-8F22-B248-8612-1C474D5DDD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72873" y="4985842"/>
                <a:ext cx="477348" cy="339915"/>
              </a:xfrm>
              <a:prstGeom prst="line">
                <a:avLst/>
              </a:prstGeom>
              <a:ln w="25400">
                <a:solidFill>
                  <a:srgbClr val="4E8D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F3F0309-C7D5-104B-B6BD-836B95A62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9392" y="4119733"/>
                <a:ext cx="226776" cy="165383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3233EDE-4F44-984E-9E60-9327CE6B9A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0428" y="4285116"/>
                <a:ext cx="226776" cy="165383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1FC77CD-B2CF-C24E-AB39-821B6ED3F0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86746" y="4408183"/>
                <a:ext cx="226776" cy="165383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D3E0D7E-AD56-F74E-B4C5-3BB14D56DE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13522" y="4559550"/>
                <a:ext cx="226776" cy="165383"/>
              </a:xfrm>
              <a:prstGeom prst="line">
                <a:avLst/>
              </a:prstGeom>
              <a:ln w="254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69B16BEB-A4A9-D84D-99C2-BE168C2119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57006" y="4736678"/>
                <a:ext cx="226776" cy="165383"/>
              </a:xfrm>
              <a:prstGeom prst="line">
                <a:avLst/>
              </a:prstGeom>
              <a:ln w="254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D729A813-43B5-CC4C-A8E7-F2EF4A1425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81365" y="4905243"/>
                <a:ext cx="131872" cy="102613"/>
              </a:xfrm>
              <a:prstGeom prst="line">
                <a:avLst/>
              </a:prstGeom>
              <a:ln w="254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DDC7BF86-5C8B-8D44-8F90-8621C540A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2900" y="4825057"/>
                <a:ext cx="178748" cy="134149"/>
              </a:xfrm>
              <a:prstGeom prst="line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9D4E7EA-8D7E-D047-80DE-4B0FAF6F15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74520" y="5269151"/>
                <a:ext cx="180589" cy="127255"/>
              </a:xfrm>
              <a:prstGeom prst="line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01E53A36-9E7D-EF47-9FB7-2CBC706BFF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0863" y="5159248"/>
                <a:ext cx="176352" cy="117932"/>
              </a:xfrm>
              <a:prstGeom prst="line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B81F71F-1D20-F949-A703-C1ED24536C75}"/>
              </a:ext>
            </a:extLst>
          </p:cNvPr>
          <p:cNvCxnSpPr>
            <a:cxnSpLocks/>
          </p:cNvCxnSpPr>
          <p:nvPr/>
        </p:nvCxnSpPr>
        <p:spPr>
          <a:xfrm>
            <a:off x="8549288" y="5616542"/>
            <a:ext cx="0" cy="1672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E5240273-8FE8-BF45-B03F-92CBAF9F589E}"/>
              </a:ext>
            </a:extLst>
          </p:cNvPr>
          <p:cNvCxnSpPr>
            <a:cxnSpLocks/>
          </p:cNvCxnSpPr>
          <p:nvPr/>
        </p:nvCxnSpPr>
        <p:spPr>
          <a:xfrm>
            <a:off x="5828754" y="5335751"/>
            <a:ext cx="2648474" cy="34519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9ACABA4-E8DF-174F-ACD1-48E19E02E6FD}"/>
              </a:ext>
            </a:extLst>
          </p:cNvPr>
          <p:cNvCxnSpPr>
            <a:cxnSpLocks/>
          </p:cNvCxnSpPr>
          <p:nvPr/>
        </p:nvCxnSpPr>
        <p:spPr>
          <a:xfrm>
            <a:off x="5199930" y="5100942"/>
            <a:ext cx="2020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122AF2E5-5D98-5C48-BE62-B92B6068FD2A}"/>
              </a:ext>
            </a:extLst>
          </p:cNvPr>
          <p:cNvSpPr/>
          <p:nvPr/>
        </p:nvSpPr>
        <p:spPr>
          <a:xfrm>
            <a:off x="5605470" y="1195165"/>
            <a:ext cx="446568" cy="435935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47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A2F1165-FEB5-BB47-8752-788E129F7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698" y="1968763"/>
            <a:ext cx="5360604" cy="402336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C94ADED-2A67-2646-8476-DF279AE96F34}"/>
              </a:ext>
            </a:extLst>
          </p:cNvPr>
          <p:cNvSpPr txBox="1">
            <a:spLocks/>
          </p:cNvSpPr>
          <p:nvPr/>
        </p:nvSpPr>
        <p:spPr>
          <a:xfrm>
            <a:off x="641893" y="133497"/>
            <a:ext cx="7860214" cy="590898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dirty="0">
                <a:solidFill>
                  <a:srgbClr val="E84A27"/>
                </a:solidFill>
                <a:latin typeface="+mn-lt"/>
                <a:cs typeface="Calibri Light" panose="020F0302020204030204"/>
              </a:rPr>
              <a:t>Nonequilibrium factor: definition</a:t>
            </a:r>
            <a:endParaRPr lang="en-US" sz="2800" kern="0" dirty="0">
              <a:solidFill>
                <a:srgbClr val="E84A27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E227E-E0A1-E04C-952F-F16678AF8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5A7D59A-BE94-42CC-AE03-5F3AD26B166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18AC38F-3AF8-3D49-8A57-5BDAF7871481}"/>
              </a:ext>
            </a:extLst>
          </p:cNvPr>
          <p:cNvCxnSpPr>
            <a:cxnSpLocks/>
          </p:cNvCxnSpPr>
          <p:nvPr/>
        </p:nvCxnSpPr>
        <p:spPr>
          <a:xfrm>
            <a:off x="6343650" y="5090746"/>
            <a:ext cx="0" cy="228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875B292D-C00D-9846-A292-FA856F4A878F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6343650" y="4730782"/>
            <a:ext cx="618651" cy="47426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0D111B1-6904-3B4E-B4BB-A131DD0EFFC9}"/>
                  </a:ext>
                </a:extLst>
              </p:cNvPr>
              <p:cNvSpPr txBox="1"/>
              <p:nvPr/>
            </p:nvSpPr>
            <p:spPr>
              <a:xfrm>
                <a:off x="6962301" y="4536722"/>
                <a:ext cx="2041648" cy="3881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0D111B1-6904-3B4E-B4BB-A131DD0EF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301" y="4536722"/>
                <a:ext cx="2041648" cy="388120"/>
              </a:xfrm>
              <a:prstGeom prst="rect">
                <a:avLst/>
              </a:prstGeom>
              <a:blipFill>
                <a:blip r:embed="rId5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5F50312-CF53-4D4F-909B-DA8524640EA8}"/>
              </a:ext>
            </a:extLst>
          </p:cNvPr>
          <p:cNvCxnSpPr>
            <a:cxnSpLocks/>
          </p:cNvCxnSpPr>
          <p:nvPr/>
        </p:nvCxnSpPr>
        <p:spPr>
          <a:xfrm>
            <a:off x="6343650" y="4467069"/>
            <a:ext cx="0" cy="6236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B85698-323C-5143-9EC7-667A28D4E6D5}"/>
                  </a:ext>
                </a:extLst>
              </p:cNvPr>
              <p:cNvSpPr txBox="1"/>
              <p:nvPr/>
            </p:nvSpPr>
            <p:spPr>
              <a:xfrm>
                <a:off x="6962301" y="4078949"/>
                <a:ext cx="2041648" cy="368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B85698-323C-5143-9EC7-667A28D4E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301" y="4078949"/>
                <a:ext cx="2041648" cy="3683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539C2832-3F92-F445-BD8A-512580BA71B5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343649" y="4263102"/>
            <a:ext cx="618652" cy="51580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B13CDC1-BCCA-144E-B482-49DF8D5EAF75}"/>
                  </a:ext>
                </a:extLst>
              </p:cNvPr>
              <p:cNvSpPr txBox="1"/>
              <p:nvPr/>
            </p:nvSpPr>
            <p:spPr>
              <a:xfrm>
                <a:off x="140045" y="3352859"/>
                <a:ext cx="1581012" cy="1255167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Offset of the linear curve:</a:t>
                </a:r>
              </a:p>
              <a:p>
                <a:pPr algn="ctr"/>
                <a:endParaRPr lang="en-US" sz="7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1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B13CDC1-BCCA-144E-B482-49DF8D5EA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45" y="3352859"/>
                <a:ext cx="1581012" cy="1255167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5645E1-B0E1-5D4D-9A08-B29A18B73D43}"/>
                  </a:ext>
                </a:extLst>
              </p:cNvPr>
              <p:cNvSpPr txBox="1"/>
              <p:nvPr/>
            </p:nvSpPr>
            <p:spPr>
              <a:xfrm>
                <a:off x="486507" y="925281"/>
                <a:ext cx="8170987" cy="122674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Timescales 1-to-3</a:t>
                </a:r>
              </a:p>
              <a:p>
                <a:pPr algn="ctr"/>
                <a:endParaRPr lang="en-US" sz="400" b="1" dirty="0">
                  <a:solidFill>
                    <a:schemeClr val="accent6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Δ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1,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1,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𝜶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1,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5645E1-B0E1-5D4D-9A08-B29A18B73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07" y="925281"/>
                <a:ext cx="8170987" cy="1226746"/>
              </a:xfrm>
              <a:prstGeom prst="rect">
                <a:avLst/>
              </a:prstGeom>
              <a:blipFill>
                <a:blip r:embed="rId8"/>
                <a:stretch>
                  <a:fillRect t="-40816" b="-103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5631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C94ADED-2A67-2646-8476-DF279AE96F34}"/>
              </a:ext>
            </a:extLst>
          </p:cNvPr>
          <p:cNvSpPr txBox="1">
            <a:spLocks/>
          </p:cNvSpPr>
          <p:nvPr/>
        </p:nvSpPr>
        <p:spPr>
          <a:xfrm>
            <a:off x="430794" y="133497"/>
            <a:ext cx="8282413" cy="590898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dirty="0">
                <a:solidFill>
                  <a:srgbClr val="E84A27"/>
                </a:solidFill>
                <a:latin typeface="+mn-lt"/>
                <a:cs typeface="Calibri Light" panose="020F0302020204030204"/>
              </a:rPr>
              <a:t>Nonequilibrium factor: definition</a:t>
            </a:r>
            <a:endParaRPr lang="en-US" sz="2800" kern="0" dirty="0">
              <a:solidFill>
                <a:srgbClr val="E84A27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E227E-E0A1-E04C-952F-F16678AF8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5A7D59A-BE94-42CC-AE03-5F3AD26B166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D7895A-8776-E442-A553-A9F11538C5E3}"/>
                  </a:ext>
                </a:extLst>
              </p:cNvPr>
              <p:cNvSpPr txBox="1"/>
              <p:nvPr/>
            </p:nvSpPr>
            <p:spPr>
              <a:xfrm>
                <a:off x="486506" y="1051523"/>
                <a:ext cx="8170987" cy="4524893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Timescales 1-to-2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mass fraction of group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is expressed as follows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(1,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(1,</m:t>
                                      </m:r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(1,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∀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b="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offset will be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</m:acc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𝛥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b="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</m:acc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(1,</m:t>
                          </m:r>
                          <m:r>
                            <a:rPr lang="en-US" b="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(1,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and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   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i="1" dirty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D7895A-8776-E442-A553-A9F11538C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06" y="1051523"/>
                <a:ext cx="8170987" cy="4524893"/>
              </a:xfrm>
              <a:prstGeom prst="rect">
                <a:avLst/>
              </a:prstGeom>
              <a:blipFill>
                <a:blip r:embed="rId3"/>
                <a:stretch>
                  <a:fillRect l="-621" t="-1117" b="-27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1220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C94ADED-2A67-2646-8476-DF279AE96F34}"/>
              </a:ext>
            </a:extLst>
          </p:cNvPr>
          <p:cNvSpPr txBox="1">
            <a:spLocks/>
          </p:cNvSpPr>
          <p:nvPr/>
        </p:nvSpPr>
        <p:spPr>
          <a:xfrm>
            <a:off x="430794" y="133497"/>
            <a:ext cx="8282413" cy="590898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dirty="0">
                <a:solidFill>
                  <a:srgbClr val="E84A27"/>
                </a:solidFill>
                <a:latin typeface="+mn-lt"/>
                <a:cs typeface="Calibri Light" panose="020F0302020204030204"/>
              </a:rPr>
              <a:t>Nonequilibrium factor: definition</a:t>
            </a:r>
            <a:endParaRPr lang="en-US" sz="2800" kern="0" dirty="0">
              <a:solidFill>
                <a:srgbClr val="E84A27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E227E-E0A1-E04C-952F-F16678AF8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5A7D59A-BE94-42CC-AE03-5F3AD26B166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D7895A-8776-E442-A553-A9F11538C5E3}"/>
                  </a:ext>
                </a:extLst>
              </p:cNvPr>
              <p:cNvSpPr txBox="1"/>
              <p:nvPr/>
            </p:nvSpPr>
            <p:spPr>
              <a:xfrm>
                <a:off x="486506" y="1051523"/>
                <a:ext cx="8170987" cy="464851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Timescales 2-to-3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mass fraction of group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is expressed as follows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(1,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     ∀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offset will be</a:t>
                </a:r>
                <a:endParaRPr lang="en-US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</m:acc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</m:acc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(1,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(1,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fun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i="1" dirty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D7895A-8776-E442-A553-A9F11538C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06" y="1051523"/>
                <a:ext cx="8170987" cy="4648517"/>
              </a:xfrm>
              <a:prstGeom prst="rect">
                <a:avLst/>
              </a:prstGeom>
              <a:blipFill>
                <a:blip r:embed="rId3"/>
                <a:stretch>
                  <a:fillRect l="-621" t="-1090" b="-26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609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C94ADED-2A67-2646-8476-DF279AE96F34}"/>
              </a:ext>
            </a:extLst>
          </p:cNvPr>
          <p:cNvSpPr txBox="1">
            <a:spLocks/>
          </p:cNvSpPr>
          <p:nvPr/>
        </p:nvSpPr>
        <p:spPr>
          <a:xfrm>
            <a:off x="430794" y="133497"/>
            <a:ext cx="8282413" cy="590898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dirty="0">
                <a:solidFill>
                  <a:srgbClr val="E84A27"/>
                </a:solidFill>
                <a:latin typeface="+mn-lt"/>
                <a:cs typeface="Calibri Light" panose="020F0302020204030204"/>
              </a:rPr>
              <a:t>Nonequilibrium factor: definition</a:t>
            </a:r>
            <a:endParaRPr lang="en-US" sz="2800" kern="0" dirty="0">
              <a:solidFill>
                <a:srgbClr val="E84A27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E227E-E0A1-E04C-952F-F16678AF8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5A7D59A-BE94-42CC-AE03-5F3AD26B166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D7895A-8776-E442-A553-A9F11538C5E3}"/>
                  </a:ext>
                </a:extLst>
              </p:cNvPr>
              <p:cNvSpPr txBox="1"/>
              <p:nvPr/>
            </p:nvSpPr>
            <p:spPr>
              <a:xfrm>
                <a:off x="486506" y="1051523"/>
                <a:ext cx="8170987" cy="501111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sz="2400" dirty="0">
                    <a:solidFill>
                      <a:schemeClr val="tx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Timescales 2-to-3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(1,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10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1,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1,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(1,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sz="2400" dirty="0">
                    <a:solidFill>
                      <a:schemeClr val="tx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Timescales 1-to-3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(1,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10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(1,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D7895A-8776-E442-A553-A9F11538C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06" y="1051523"/>
                <a:ext cx="8170987" cy="5011115"/>
              </a:xfrm>
              <a:prstGeom prst="rect">
                <a:avLst/>
              </a:prstGeom>
              <a:blipFill>
                <a:blip r:embed="rId3"/>
                <a:stretch>
                  <a:fillRect l="-1087" t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3340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C94ADED-2A67-2646-8476-DF279AE96F34}"/>
              </a:ext>
            </a:extLst>
          </p:cNvPr>
          <p:cNvSpPr txBox="1">
            <a:spLocks/>
          </p:cNvSpPr>
          <p:nvPr/>
        </p:nvSpPr>
        <p:spPr>
          <a:xfrm>
            <a:off x="430794" y="133497"/>
            <a:ext cx="8282413" cy="590898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dirty="0">
                <a:solidFill>
                  <a:srgbClr val="E84A27"/>
                </a:solidFill>
                <a:latin typeface="+mn-lt"/>
                <a:cs typeface="Calibri Light" panose="020F0302020204030204"/>
              </a:rPr>
              <a:t>Nonequilibrium factor: definition</a:t>
            </a:r>
            <a:endParaRPr lang="en-US" sz="2800" kern="0" dirty="0">
              <a:solidFill>
                <a:srgbClr val="E84A27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E227E-E0A1-E04C-952F-F16678AF8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5A7D59A-BE94-42CC-AE03-5F3AD26B166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D7895A-8776-E442-A553-A9F11538C5E3}"/>
                  </a:ext>
                </a:extLst>
              </p:cNvPr>
              <p:cNvSpPr txBox="1"/>
              <p:nvPr/>
            </p:nvSpPr>
            <p:spPr>
              <a:xfrm>
                <a:off x="486506" y="1051523"/>
                <a:ext cx="8170987" cy="501111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sz="2400" dirty="0">
                    <a:solidFill>
                      <a:schemeClr val="tx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Timescales 2-to-3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(1,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10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1,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1,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(1,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sz="2400" dirty="0">
                    <a:solidFill>
                      <a:schemeClr val="tx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Timescales 1-to-3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(1,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10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(1,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D7895A-8776-E442-A553-A9F11538C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06" y="1051523"/>
                <a:ext cx="8170987" cy="5011115"/>
              </a:xfrm>
              <a:prstGeom prst="rect">
                <a:avLst/>
              </a:prstGeom>
              <a:blipFill>
                <a:blip r:embed="rId3"/>
                <a:stretch>
                  <a:fillRect l="-1087" t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BAD97C6F-4937-2A48-B72E-DB35663803EF}"/>
              </a:ext>
            </a:extLst>
          </p:cNvPr>
          <p:cNvSpPr/>
          <p:nvPr/>
        </p:nvSpPr>
        <p:spPr>
          <a:xfrm>
            <a:off x="4274287" y="1329069"/>
            <a:ext cx="1541722" cy="723014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B47348B-7123-0C44-B61E-9840F9E44C03}"/>
              </a:ext>
            </a:extLst>
          </p:cNvPr>
          <p:cNvSpPr/>
          <p:nvPr/>
        </p:nvSpPr>
        <p:spPr>
          <a:xfrm>
            <a:off x="4830724" y="3695853"/>
            <a:ext cx="1541722" cy="723014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20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C94ADED-2A67-2646-8476-DF279AE96F34}"/>
              </a:ext>
            </a:extLst>
          </p:cNvPr>
          <p:cNvSpPr txBox="1">
            <a:spLocks/>
          </p:cNvSpPr>
          <p:nvPr/>
        </p:nvSpPr>
        <p:spPr>
          <a:xfrm>
            <a:off x="430794" y="133497"/>
            <a:ext cx="8282413" cy="590898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dirty="0">
                <a:solidFill>
                  <a:srgbClr val="E84A27"/>
                </a:solidFill>
                <a:latin typeface="+mn-lt"/>
                <a:cs typeface="Calibri Light" panose="020F0302020204030204"/>
              </a:rPr>
              <a:t>Nonequilibrium factor: definition</a:t>
            </a:r>
            <a:endParaRPr lang="en-US" sz="2800" kern="0" dirty="0">
              <a:solidFill>
                <a:srgbClr val="E84A27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E227E-E0A1-E04C-952F-F16678AF8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5A7D59A-BE94-42CC-AE03-5F3AD26B166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F0EE809-5E2A-3E4D-8984-1417D635FDCC}"/>
              </a:ext>
            </a:extLst>
          </p:cNvPr>
          <p:cNvGrpSpPr/>
          <p:nvPr/>
        </p:nvGrpSpPr>
        <p:grpSpPr>
          <a:xfrm>
            <a:off x="772647" y="2109785"/>
            <a:ext cx="7139055" cy="2638429"/>
            <a:chOff x="419650" y="2109785"/>
            <a:chExt cx="7139055" cy="2638429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66E41E9B-4F84-C347-A17B-F35417107AE0}"/>
                </a:ext>
              </a:extLst>
            </p:cNvPr>
            <p:cNvGrpSpPr/>
            <p:nvPr/>
          </p:nvGrpSpPr>
          <p:grpSpPr>
            <a:xfrm>
              <a:off x="419650" y="2109785"/>
              <a:ext cx="5800472" cy="2638429"/>
              <a:chOff x="419650" y="2162652"/>
              <a:chExt cx="5800472" cy="2638429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7797424F-8E55-BC4B-95B5-5639D0D77774}"/>
                  </a:ext>
                </a:extLst>
              </p:cNvPr>
              <p:cNvSpPr/>
              <p:nvPr/>
            </p:nvSpPr>
            <p:spPr>
              <a:xfrm>
                <a:off x="2031801" y="2162652"/>
                <a:ext cx="4188321" cy="700989"/>
              </a:xfrm>
              <a:prstGeom prst="roundRect">
                <a:avLst>
                  <a:gd name="adj" fmla="val 9629"/>
                </a:avLst>
              </a:prstGeom>
              <a:solidFill>
                <a:srgbClr val="C00000">
                  <a:alpha val="1225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Nonequilibrium distance 1-to-3</a:t>
                </a:r>
              </a:p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DeepONet</a:t>
                </a:r>
                <a:r>
                  <a:rPr lang="en-US" sz="1200" b="1" baseline="30000" dirty="0">
                    <a:solidFill>
                      <a:schemeClr val="tx1"/>
                    </a:solidFill>
                  </a:rPr>
                  <a:t>(0,1)</a:t>
                </a:r>
              </a:p>
            </p:txBody>
          </p:sp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3840430D-35CD-1D4D-87E9-E73F772B6368}"/>
                  </a:ext>
                </a:extLst>
              </p:cNvPr>
              <p:cNvSpPr/>
              <p:nvPr/>
            </p:nvSpPr>
            <p:spPr>
              <a:xfrm>
                <a:off x="2042434" y="3344961"/>
                <a:ext cx="4177688" cy="1456120"/>
              </a:xfrm>
              <a:prstGeom prst="roundRect">
                <a:avLst>
                  <a:gd name="adj" fmla="val 9629"/>
                </a:avLst>
              </a:prstGeom>
              <a:solidFill>
                <a:schemeClr val="accent6">
                  <a:alpha val="1225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Nonequilibrium distance 2-to-3</a:t>
                </a:r>
              </a:p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DeepONet</a:t>
                </a:r>
                <a:r>
                  <a:rPr lang="en-US" sz="1200" b="1" baseline="30000" dirty="0">
                    <a:solidFill>
                      <a:schemeClr val="tx1"/>
                    </a:solidFill>
                  </a:rPr>
                  <a:t>(1,2)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A7190DB3-9E01-554F-B5B1-A0B613FF45C7}"/>
                  </a:ext>
                </a:extLst>
              </p:cNvPr>
              <p:cNvCxnSpPr>
                <a:cxnSpLocks/>
                <a:stCxn id="74" idx="3"/>
                <a:endCxn id="13" idx="1"/>
              </p:cNvCxnSpPr>
              <p:nvPr/>
            </p:nvCxnSpPr>
            <p:spPr>
              <a:xfrm>
                <a:off x="977604" y="2966962"/>
                <a:ext cx="1064830" cy="110605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AB0291A4-5DEC-FE43-9B8A-18478BD72C2B}"/>
                  </a:ext>
                </a:extLst>
              </p:cNvPr>
              <p:cNvCxnSpPr>
                <a:cxnSpLocks/>
                <a:stCxn id="83" idx="3"/>
                <a:endCxn id="12" idx="1"/>
              </p:cNvCxnSpPr>
              <p:nvPr/>
            </p:nvCxnSpPr>
            <p:spPr>
              <a:xfrm flipV="1">
                <a:off x="972543" y="2513147"/>
                <a:ext cx="1059258" cy="177357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43B02854-F227-474B-A4B4-830D7FA1D9CC}"/>
                  </a:ext>
                </a:extLst>
              </p:cNvPr>
              <p:cNvCxnSpPr>
                <a:cxnSpLocks/>
                <a:stCxn id="74" idx="3"/>
                <a:endCxn id="12" idx="1"/>
              </p:cNvCxnSpPr>
              <p:nvPr/>
            </p:nvCxnSpPr>
            <p:spPr>
              <a:xfrm flipV="1">
                <a:off x="977604" y="2513147"/>
                <a:ext cx="1054197" cy="45381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16FC4541-915F-134A-B645-B4E42706A533}"/>
                  </a:ext>
                </a:extLst>
              </p:cNvPr>
              <p:cNvCxnSpPr>
                <a:cxnSpLocks/>
                <a:stCxn id="83" idx="3"/>
                <a:endCxn id="13" idx="1"/>
              </p:cNvCxnSpPr>
              <p:nvPr/>
            </p:nvCxnSpPr>
            <p:spPr>
              <a:xfrm flipV="1">
                <a:off x="972543" y="4073021"/>
                <a:ext cx="1069891" cy="21369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17E02F40-8D2E-FC4A-AF6A-4539EE5C2F11}"/>
                  </a:ext>
                </a:extLst>
              </p:cNvPr>
              <p:cNvGrpSpPr/>
              <p:nvPr/>
            </p:nvGrpSpPr>
            <p:grpSpPr>
              <a:xfrm>
                <a:off x="419650" y="2376854"/>
                <a:ext cx="557954" cy="2127425"/>
                <a:chOff x="153761" y="2524341"/>
                <a:chExt cx="557954" cy="212742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4" name="Rounded Rectangle 73">
                      <a:extLst>
                        <a:ext uri="{FF2B5EF4-FFF2-40B4-BE49-F238E27FC236}">
                          <a16:creationId xmlns:a16="http://schemas.microsoft.com/office/drawing/2014/main" id="{0B25A340-B75B-5D46-8131-58263F9C50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8822" y="2524341"/>
                      <a:ext cx="552893" cy="1180215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oMath>
                        </m:oMathPara>
                      </a14:m>
                      <a:endParaRPr lang="en-US" b="0" i="1" dirty="0">
                        <a:latin typeface="Cambria Math" panose="02040503050406030204" pitchFamily="18" charset="0"/>
                      </a:endParaRPr>
                    </a:p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b="0" i="1" dirty="0">
                        <a:latin typeface="Cambria Math" panose="02040503050406030204" pitchFamily="18" charset="0"/>
                      </a:endParaRPr>
                    </a:p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b="0" dirty="0"/>
                    </a:p>
                  </p:txBody>
                </p:sp>
              </mc:Choice>
              <mc:Fallback xmlns="">
                <p:sp>
                  <p:nvSpPr>
                    <p:cNvPr id="74" name="Rounded Rectangle 73">
                      <a:extLst>
                        <a:ext uri="{FF2B5EF4-FFF2-40B4-BE49-F238E27FC236}">
                          <a16:creationId xmlns:a16="http://schemas.microsoft.com/office/drawing/2014/main" id="{0B25A340-B75B-5D46-8131-58263F9C50D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8822" y="2524341"/>
                      <a:ext cx="552893" cy="1180215"/>
                    </a:xfrm>
                    <a:prstGeom prst="round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3" name="Rounded Rectangle 82">
                      <a:extLst>
                        <a:ext uri="{FF2B5EF4-FFF2-40B4-BE49-F238E27FC236}">
                          <a16:creationId xmlns:a16="http://schemas.microsoft.com/office/drawing/2014/main" id="{60AF8D8A-6844-B642-927C-F59796B26C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3761" y="4216646"/>
                      <a:ext cx="552893" cy="435120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b="0" dirty="0"/>
                    </a:p>
                  </p:txBody>
                </p:sp>
              </mc:Choice>
              <mc:Fallback xmlns="">
                <p:sp>
                  <p:nvSpPr>
                    <p:cNvPr id="83" name="Rounded Rectangle 82">
                      <a:extLst>
                        <a:ext uri="{FF2B5EF4-FFF2-40B4-BE49-F238E27FC236}">
                          <a16:creationId xmlns:a16="http://schemas.microsoft.com/office/drawing/2014/main" id="{60AF8D8A-6844-B642-927C-F59796B26CC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3761" y="4216646"/>
                      <a:ext cx="552893" cy="435120"/>
                    </a:xfrm>
                    <a:prstGeom prst="roundRect">
                      <a:avLst/>
                    </a:prstGeom>
                    <a:blipFill>
                      <a:blip r:embed="rId4"/>
                      <a:stretch>
                        <a:fillRect b="-54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F1D0A2F3-2B26-934A-8A43-4EC046837E75}"/>
                </a:ext>
              </a:extLst>
            </p:cNvPr>
            <p:cNvCxnSpPr>
              <a:cxnSpLocks/>
            </p:cNvCxnSpPr>
            <p:nvPr/>
          </p:nvCxnSpPr>
          <p:spPr>
            <a:xfrm>
              <a:off x="6220122" y="2460279"/>
              <a:ext cx="548640" cy="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ACDA09DA-BDF1-F94C-9642-2E4E17703D45}"/>
                </a:ext>
              </a:extLst>
            </p:cNvPr>
            <p:cNvCxnSpPr>
              <a:cxnSpLocks/>
            </p:cNvCxnSpPr>
            <p:nvPr/>
          </p:nvCxnSpPr>
          <p:spPr>
            <a:xfrm>
              <a:off x="6241091" y="3644037"/>
              <a:ext cx="548640" cy="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D35B1EF1-6EE1-DF4C-B678-E887B2E49D46}"/>
                </a:ext>
              </a:extLst>
            </p:cNvPr>
            <p:cNvCxnSpPr>
              <a:cxnSpLocks/>
            </p:cNvCxnSpPr>
            <p:nvPr/>
          </p:nvCxnSpPr>
          <p:spPr>
            <a:xfrm>
              <a:off x="6241091" y="4016292"/>
              <a:ext cx="548640" cy="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02885276-F07E-0C4B-9B9E-C3F823B23997}"/>
                </a:ext>
              </a:extLst>
            </p:cNvPr>
            <p:cNvCxnSpPr>
              <a:cxnSpLocks/>
            </p:cNvCxnSpPr>
            <p:nvPr/>
          </p:nvCxnSpPr>
          <p:spPr>
            <a:xfrm>
              <a:off x="6241091" y="4451412"/>
              <a:ext cx="548640" cy="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00A626D3-969D-F742-B6C7-96855ACB0838}"/>
                    </a:ext>
                  </a:extLst>
                </p:cNvPr>
                <p:cNvSpPr txBox="1"/>
                <p:nvPr/>
              </p:nvSpPr>
              <p:spPr>
                <a:xfrm>
                  <a:off x="6687697" y="2205112"/>
                  <a:ext cx="618631" cy="3808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00A626D3-969D-F742-B6C7-96855ACB08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7697" y="2205112"/>
                  <a:ext cx="618631" cy="3808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FDDC7CE0-4A8B-6543-800D-A1E313CF7C82}"/>
                    </a:ext>
                  </a:extLst>
                </p:cNvPr>
                <p:cNvSpPr txBox="1"/>
                <p:nvPr/>
              </p:nvSpPr>
              <p:spPr>
                <a:xfrm>
                  <a:off x="6687697" y="3396230"/>
                  <a:ext cx="871008" cy="11424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(1,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  <a:p>
                  <a:endParaRPr lang="en-US" sz="6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(1,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  <a:p>
                  <a:endParaRPr lang="en-US" sz="6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(1,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FDDC7CE0-4A8B-6543-800D-A1E313CF7C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7697" y="3396230"/>
                  <a:ext cx="871008" cy="114242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75827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2767-307F-E74C-99ED-10376695A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212" y="2217528"/>
            <a:ext cx="8283575" cy="1773237"/>
          </a:xfrm>
          <a:prstGeom prst="rect">
            <a:avLst/>
          </a:prstGeom>
        </p:spPr>
        <p:txBody>
          <a:bodyPr/>
          <a:lstStyle/>
          <a:p>
            <a:r>
              <a:rPr lang="en-US" sz="4800" b="1" dirty="0">
                <a:cs typeface="Calibri Light" panose="020F0302020204030204"/>
              </a:rPr>
              <a:t>Adaptive</a:t>
            </a:r>
            <a:br>
              <a:rPr lang="en-US" sz="4800" b="1" dirty="0">
                <a:cs typeface="Calibri Light" panose="020F0302020204030204"/>
              </a:rPr>
            </a:br>
            <a:r>
              <a:rPr lang="en-US" sz="4800" b="1" dirty="0">
                <a:cs typeface="Calibri Light" panose="020F0302020204030204"/>
              </a:rPr>
              <a:t>nonequilibrium</a:t>
            </a:r>
            <a:br>
              <a:rPr lang="en-US" sz="4800" b="1" dirty="0">
                <a:cs typeface="Calibri Light" panose="020F0302020204030204"/>
              </a:rPr>
            </a:br>
            <a:r>
              <a:rPr lang="en-US" sz="4800" b="1" dirty="0">
                <a:cs typeface="Calibri Light" panose="020F0302020204030204"/>
              </a:rPr>
              <a:t>strategy</a:t>
            </a:r>
            <a:br>
              <a:rPr lang="en-US" i="1" dirty="0">
                <a:cs typeface="Calibri Light" panose="020F0302020204030204"/>
              </a:rPr>
            </a:br>
            <a:r>
              <a:rPr lang="en-US" sz="3000" i="1" dirty="0">
                <a:cs typeface="Calibri Light" panose="020F0302020204030204"/>
              </a:rPr>
              <a:t>Test Case</a:t>
            </a:r>
            <a:endParaRPr lang="en-US" sz="3000" i="1" dirty="0">
              <a:solidFill>
                <a:srgbClr val="E84A27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81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4CD95408-AF99-294D-94EB-5FECA7F3AB84}"/>
              </a:ext>
            </a:extLst>
          </p:cNvPr>
          <p:cNvSpPr txBox="1">
            <a:spLocks/>
          </p:cNvSpPr>
          <p:nvPr/>
        </p:nvSpPr>
        <p:spPr>
          <a:xfrm>
            <a:off x="641893" y="133497"/>
            <a:ext cx="7860214" cy="59089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defTabSz="274320"/>
            <a:r>
              <a:rPr lang="en-US" sz="2800" dirty="0">
                <a:solidFill>
                  <a:srgbClr val="E84A27"/>
                </a:solidFill>
                <a:latin typeface="+mn-lt"/>
              </a:rPr>
              <a:t>Test Case</a:t>
            </a:r>
            <a:endParaRPr lang="en-US" sz="2800" kern="0" dirty="0">
              <a:solidFill>
                <a:srgbClr val="E84A27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F1B40A-2E8A-0743-8F88-8CBB82CDD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9" y="1737360"/>
            <a:ext cx="4507781" cy="3383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306E2C-1D79-A343-97E6-27B28091E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737360"/>
            <a:ext cx="4507780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92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AC92767-307F-E74C-99ED-10376695A148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430212" y="2217528"/>
                <a:ext cx="8283575" cy="1773237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en-US" sz="4800" b="1" dirty="0">
                    <a:cs typeface="Calibri Light" panose="020F0302020204030204"/>
                  </a:rPr>
                  <a:t>Adaptive</a:t>
                </a:r>
                <a:br>
                  <a:rPr lang="en-US" sz="4800" b="1" dirty="0">
                    <a:cs typeface="Calibri Light" panose="020F0302020204030204"/>
                  </a:rPr>
                </a:br>
                <a:r>
                  <a:rPr lang="en-US" sz="4800" b="1" dirty="0">
                    <a:cs typeface="Calibri Light" panose="020F0302020204030204"/>
                  </a:rPr>
                  <a:t>nonequilibrium</a:t>
                </a:r>
                <a:br>
                  <a:rPr lang="en-US" sz="4800" b="1" dirty="0">
                    <a:cs typeface="Calibri Light" panose="020F0302020204030204"/>
                  </a:rPr>
                </a:br>
                <a:r>
                  <a:rPr lang="en-US" sz="4800" b="1" dirty="0">
                    <a:cs typeface="Calibri Light" panose="020F0302020204030204"/>
                  </a:rPr>
                  <a:t>strategy</a:t>
                </a:r>
                <a:br>
                  <a:rPr lang="en-US" i="1" dirty="0">
                    <a:cs typeface="Calibri Light" panose="020F0302020204030204"/>
                  </a:rPr>
                </a:br>
                <a:r>
                  <a:rPr lang="en-US" sz="3000" i="1" dirty="0">
                    <a:cs typeface="Calibri Light" panose="020F0302020204030204"/>
                  </a:rPr>
                  <a:t>Nonequilibrium Factor: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  <a:cs typeface="Calibri Light" panose="020F0302020204030204"/>
                      </a:rPr>
                      <m:t>𝑥</m:t>
                    </m:r>
                  </m:oMath>
                </a14:m>
                <a:endParaRPr lang="en-US" sz="3000" i="1" dirty="0">
                  <a:solidFill>
                    <a:srgbClr val="E84A27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AC92767-307F-E74C-99ED-10376695A1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430212" y="2217528"/>
                <a:ext cx="8283575" cy="1773237"/>
              </a:xfrm>
              <a:prstGeom prst="rect">
                <a:avLst/>
              </a:prstGeom>
              <a:blipFill>
                <a:blip r:embed="rId3"/>
                <a:stretch>
                  <a:fillRect t="-34752" b="-37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220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4CD95408-AF99-294D-94EB-5FECA7F3AB84}"/>
              </a:ext>
            </a:extLst>
          </p:cNvPr>
          <p:cNvSpPr txBox="1">
            <a:spLocks/>
          </p:cNvSpPr>
          <p:nvPr/>
        </p:nvSpPr>
        <p:spPr>
          <a:xfrm>
            <a:off x="641893" y="133497"/>
            <a:ext cx="7860214" cy="59089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defTabSz="274320"/>
            <a:r>
              <a:rPr lang="en-US" sz="2800" dirty="0">
                <a:solidFill>
                  <a:srgbClr val="E84A27"/>
                </a:solidFill>
                <a:latin typeface="+mn-lt"/>
              </a:rPr>
              <a:t>Timescale 2</a:t>
            </a:r>
            <a:endParaRPr lang="en-US" sz="2800" kern="0" dirty="0">
              <a:solidFill>
                <a:srgbClr val="E84A27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3DD878-F6C7-084B-AEB2-7133FCE03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650" y="1231900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41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4CD95408-AF99-294D-94EB-5FECA7F3AB84}"/>
              </a:ext>
            </a:extLst>
          </p:cNvPr>
          <p:cNvSpPr txBox="1">
            <a:spLocks/>
          </p:cNvSpPr>
          <p:nvPr/>
        </p:nvSpPr>
        <p:spPr>
          <a:xfrm>
            <a:off x="641893" y="133497"/>
            <a:ext cx="7860214" cy="59089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defTabSz="274320"/>
            <a:r>
              <a:rPr lang="en-US" sz="2800" dirty="0">
                <a:solidFill>
                  <a:srgbClr val="E84A27"/>
                </a:solidFill>
                <a:latin typeface="+mn-lt"/>
              </a:rPr>
              <a:t>Timescale 3</a:t>
            </a:r>
            <a:endParaRPr lang="en-US" sz="2800" kern="0" dirty="0">
              <a:solidFill>
                <a:srgbClr val="E84A27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220B67-57DA-9B45-800E-E593056BB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706" y="990997"/>
            <a:ext cx="3411293" cy="2560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6BFB60-D26E-A748-AFEA-3FD143005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8" y="990997"/>
            <a:ext cx="3411293" cy="2560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6EE5AC-068B-974D-9AEC-1A0CA9C3BB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352" y="3551317"/>
            <a:ext cx="3411293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836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AC92767-307F-E74C-99ED-10376695A148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430212" y="2217528"/>
                <a:ext cx="8283575" cy="1773237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en-US" sz="4800" b="1" dirty="0">
                    <a:cs typeface="Calibri Light" panose="020F0302020204030204"/>
                  </a:rPr>
                  <a:t>Adaptive</a:t>
                </a:r>
                <a:br>
                  <a:rPr lang="en-US" sz="4800" b="1" dirty="0">
                    <a:cs typeface="Calibri Light" panose="020F0302020204030204"/>
                  </a:rPr>
                </a:br>
                <a:r>
                  <a:rPr lang="en-US" sz="4800" b="1" dirty="0">
                    <a:cs typeface="Calibri Light" panose="020F0302020204030204"/>
                  </a:rPr>
                  <a:t>nonequilibrium</a:t>
                </a:r>
                <a:br>
                  <a:rPr lang="en-US" sz="4800" b="1" dirty="0">
                    <a:cs typeface="Calibri Light" panose="020F0302020204030204"/>
                  </a:rPr>
                </a:br>
                <a:r>
                  <a:rPr lang="en-US" sz="4800" b="1" dirty="0">
                    <a:cs typeface="Calibri Light" panose="020F0302020204030204"/>
                  </a:rPr>
                  <a:t>strategy</a:t>
                </a:r>
                <a:br>
                  <a:rPr lang="en-US" i="1" dirty="0">
                    <a:cs typeface="Calibri Light" panose="020F0302020204030204"/>
                  </a:rPr>
                </a:br>
                <a:r>
                  <a:rPr lang="en-US" sz="3000" i="1" dirty="0">
                    <a:cs typeface="Calibri Light" panose="020F0302020204030204"/>
                  </a:rPr>
                  <a:t>Nonequilibrium Factor: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b="0" i="0" dirty="0" smtClean="0">
                        <a:latin typeface="Cambria Math" panose="02040503050406030204" pitchFamily="18" charset="0"/>
                        <a:cs typeface="Calibri Light" panose="020F0302020204030204"/>
                      </a:rPr>
                      <m:t>Δ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  <a:cs typeface="Calibri Light" panose="020F0302020204030204"/>
                      </a:rPr>
                      <m:t>𝛼</m:t>
                    </m:r>
                  </m:oMath>
                </a14:m>
                <a:endParaRPr lang="en-US" sz="3000" i="1" dirty="0">
                  <a:solidFill>
                    <a:srgbClr val="E84A27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AC92767-307F-E74C-99ED-10376695A1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430212" y="2217528"/>
                <a:ext cx="8283575" cy="1773237"/>
              </a:xfrm>
              <a:prstGeom prst="rect">
                <a:avLst/>
              </a:prstGeom>
              <a:blipFill>
                <a:blip r:embed="rId3"/>
                <a:stretch>
                  <a:fillRect t="-34752" b="-37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11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52E5D4-837B-4043-BA5B-201776347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649" y="1593407"/>
            <a:ext cx="5854700" cy="43942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4CD95408-AF99-294D-94EB-5FECA7F3AB84}"/>
              </a:ext>
            </a:extLst>
          </p:cNvPr>
          <p:cNvSpPr txBox="1">
            <a:spLocks/>
          </p:cNvSpPr>
          <p:nvPr/>
        </p:nvSpPr>
        <p:spPr>
          <a:xfrm>
            <a:off x="641893" y="133497"/>
            <a:ext cx="7860214" cy="59089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defTabSz="274320"/>
            <a:r>
              <a:rPr lang="en-US" sz="2800" dirty="0">
                <a:solidFill>
                  <a:srgbClr val="E84A27"/>
                </a:solidFill>
                <a:latin typeface="+mn-lt"/>
              </a:rPr>
              <a:t>Timescale 1-to-2</a:t>
            </a:r>
            <a:endParaRPr lang="en-US" sz="2800" kern="0" dirty="0">
              <a:solidFill>
                <a:srgbClr val="E84A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576B1F-1365-A841-A234-2BECD5C3A6FE}"/>
                  </a:ext>
                </a:extLst>
              </p:cNvPr>
              <p:cNvSpPr txBox="1"/>
              <p:nvPr/>
            </p:nvSpPr>
            <p:spPr>
              <a:xfrm>
                <a:off x="486506" y="1051523"/>
                <a:ext cx="8170987" cy="83926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576B1F-1365-A841-A234-2BECD5C3A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06" y="1051523"/>
                <a:ext cx="8170987" cy="839269"/>
              </a:xfrm>
              <a:prstGeom prst="rect">
                <a:avLst/>
              </a:prstGeom>
              <a:blipFill>
                <a:blip r:embed="rId3"/>
                <a:stretch>
                  <a:fillRect t="-123881" b="-174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0144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191B33-E1BB-B64C-BA62-26912939D25B}"/>
              </a:ext>
            </a:extLst>
          </p:cNvPr>
          <p:cNvSpPr txBox="1">
            <a:spLocks/>
          </p:cNvSpPr>
          <p:nvPr/>
        </p:nvSpPr>
        <p:spPr>
          <a:xfrm>
            <a:off x="641893" y="133497"/>
            <a:ext cx="7860214" cy="59089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defTabSz="274320"/>
            <a:r>
              <a:rPr lang="en-US" sz="2800" dirty="0">
                <a:solidFill>
                  <a:srgbClr val="E84A27"/>
                </a:solidFill>
                <a:latin typeface="+mn-lt"/>
              </a:rPr>
              <a:t>Timescale 2-to-3</a:t>
            </a:r>
            <a:endParaRPr lang="en-US" sz="2800" kern="0" dirty="0">
              <a:solidFill>
                <a:srgbClr val="E84A27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E92E9B-88ED-B74D-AB19-4D49F6965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649" y="1608470"/>
            <a:ext cx="5854700" cy="439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2FB144-10D2-934B-9F64-193092B0ABDA}"/>
                  </a:ext>
                </a:extLst>
              </p:cNvPr>
              <p:cNvSpPr txBox="1"/>
              <p:nvPr/>
            </p:nvSpPr>
            <p:spPr>
              <a:xfrm>
                <a:off x="486506" y="1051523"/>
                <a:ext cx="8170987" cy="55694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(1,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2FB144-10D2-934B-9F64-193092B0A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06" y="1051523"/>
                <a:ext cx="8170987" cy="556947"/>
              </a:xfrm>
              <a:prstGeom prst="rect">
                <a:avLst/>
              </a:prstGeom>
              <a:blipFill>
                <a:blip r:embed="rId3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7267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2767-307F-E74C-99ED-10376695A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212" y="2217528"/>
            <a:ext cx="8283575" cy="1773237"/>
          </a:xfrm>
          <a:prstGeom prst="rect">
            <a:avLst/>
          </a:prstGeom>
        </p:spPr>
        <p:txBody>
          <a:bodyPr/>
          <a:lstStyle/>
          <a:p>
            <a:r>
              <a:rPr lang="en-US" sz="4800" b="1" dirty="0">
                <a:cs typeface="Calibri Light" panose="020F0302020204030204"/>
              </a:rPr>
              <a:t>Adaptive</a:t>
            </a:r>
            <a:br>
              <a:rPr lang="en-US" sz="4800" b="1" dirty="0">
                <a:cs typeface="Calibri Light" panose="020F0302020204030204"/>
              </a:rPr>
            </a:br>
            <a:r>
              <a:rPr lang="en-US" sz="4800" b="1" dirty="0">
                <a:cs typeface="Calibri Light" panose="020F0302020204030204"/>
              </a:rPr>
              <a:t>nonequilibrium</a:t>
            </a:r>
            <a:br>
              <a:rPr lang="en-US" sz="4800" b="1" dirty="0">
                <a:cs typeface="Calibri Light" panose="020F0302020204030204"/>
              </a:rPr>
            </a:br>
            <a:r>
              <a:rPr lang="en-US" sz="4800" b="1" dirty="0">
                <a:cs typeface="Calibri Light" panose="020F0302020204030204"/>
              </a:rPr>
              <a:t>strategy</a:t>
            </a:r>
            <a:br>
              <a:rPr lang="en-US" i="1" dirty="0">
                <a:cs typeface="Calibri Light" panose="020F0302020204030204"/>
              </a:rPr>
            </a:br>
            <a:r>
              <a:rPr lang="en-US" i="1" dirty="0">
                <a:cs typeface="Calibri Light" panose="020F0302020204030204"/>
              </a:rPr>
              <a:t>Levels distribution</a:t>
            </a:r>
            <a:endParaRPr lang="en-US" sz="3000" i="1" dirty="0">
              <a:solidFill>
                <a:srgbClr val="E84A27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81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935AFF2-32C9-E349-93EF-C00D61814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351" y="3551317"/>
            <a:ext cx="3411292" cy="25603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4CD95408-AF99-294D-94EB-5FECA7F3AB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1893" y="133497"/>
                <a:ext cx="7860214" cy="590898"/>
              </a:xfrm>
              <a:prstGeom prst="rect">
                <a:avLst/>
              </a:prstGeom>
            </p:spPr>
            <p:txBody>
              <a:bodyPr/>
              <a:lstStyle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2pPr>
                <a:lvl3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3pPr>
                <a:lvl4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4pPr>
                <a:lvl5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defTabSz="274320"/>
                <a:r>
                  <a:rPr lang="en-US" sz="2800" dirty="0">
                    <a:solidFill>
                      <a:srgbClr val="E84A27"/>
                    </a:solidFill>
                    <a:latin typeface="+mn-lt"/>
                  </a:rPr>
                  <a:t>Time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E84A2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solidFill>
                              <a:srgbClr val="E84A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i="1" dirty="0">
                            <a:solidFill>
                              <a:srgbClr val="E84A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dirty="0" smtClean="0">
                            <a:solidFill>
                              <a:srgbClr val="E84A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sz="2800" kern="0" dirty="0">
                    <a:solidFill>
                      <a:srgbClr val="E84A27"/>
                    </a:solidFill>
                    <a:latin typeface="+mn-lt"/>
                  </a:rPr>
                  <a:t> s</a:t>
                </a:r>
              </a:p>
            </p:txBody>
          </p:sp>
        </mc:Choice>
        <mc:Fallback xmlns="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4CD95408-AF99-294D-94EB-5FECA7F3A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93" y="133497"/>
                <a:ext cx="7860214" cy="590898"/>
              </a:xfrm>
              <a:prstGeom prst="rect">
                <a:avLst/>
              </a:prstGeom>
              <a:blipFill>
                <a:blip r:embed="rId4"/>
                <a:stretch>
                  <a:fillRect t="-833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09FBAD68-D4CB-8141-82B5-52A4A59D27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703" y="990997"/>
            <a:ext cx="3411293" cy="25603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1516EB9-C60F-E64A-A0E4-F321A64AF7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6" y="990997"/>
            <a:ext cx="3411293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857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58CF27-9CAE-4548-9052-ED774869E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350" y="3551317"/>
            <a:ext cx="3411293" cy="25603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4CD95408-AF99-294D-94EB-5FECA7F3AB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1893" y="133497"/>
                <a:ext cx="7860214" cy="590898"/>
              </a:xfrm>
              <a:prstGeom prst="rect">
                <a:avLst/>
              </a:prstGeom>
            </p:spPr>
            <p:txBody>
              <a:bodyPr/>
              <a:lstStyle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2pPr>
                <a:lvl3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3pPr>
                <a:lvl4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4pPr>
                <a:lvl5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defTabSz="274320"/>
                <a:r>
                  <a:rPr lang="en-US" sz="2800" dirty="0">
                    <a:solidFill>
                      <a:srgbClr val="E84A27"/>
                    </a:solidFill>
                    <a:latin typeface="+mn-lt"/>
                  </a:rPr>
                  <a:t>Time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E84A2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solidFill>
                              <a:srgbClr val="E84A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i="1" dirty="0">
                            <a:solidFill>
                              <a:srgbClr val="E84A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dirty="0" smtClean="0">
                            <a:solidFill>
                              <a:srgbClr val="E84A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sz="2800" kern="0" dirty="0">
                    <a:solidFill>
                      <a:srgbClr val="E84A27"/>
                    </a:solidFill>
                    <a:latin typeface="+mn-lt"/>
                  </a:rPr>
                  <a:t> s</a:t>
                </a:r>
              </a:p>
            </p:txBody>
          </p:sp>
        </mc:Choice>
        <mc:Fallback xmlns="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4CD95408-AF99-294D-94EB-5FECA7F3A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93" y="133497"/>
                <a:ext cx="7860214" cy="590898"/>
              </a:xfrm>
              <a:prstGeom prst="rect">
                <a:avLst/>
              </a:prstGeom>
              <a:blipFill>
                <a:blip r:embed="rId3"/>
                <a:stretch>
                  <a:fillRect t="-833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086DA97-5412-A444-9D25-70309FCDE7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703" y="990997"/>
            <a:ext cx="3411293" cy="2560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5AE310-288D-214D-9AA1-60DC360982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6" y="990997"/>
            <a:ext cx="3411293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03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03DB0C-66D2-8D46-8ABF-A9CF5DD8D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350" y="3551317"/>
            <a:ext cx="3411293" cy="25603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4CD95408-AF99-294D-94EB-5FECA7F3AB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1893" y="133497"/>
                <a:ext cx="7860214" cy="590898"/>
              </a:xfrm>
              <a:prstGeom prst="rect">
                <a:avLst/>
              </a:prstGeom>
            </p:spPr>
            <p:txBody>
              <a:bodyPr/>
              <a:lstStyle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2pPr>
                <a:lvl3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3pPr>
                <a:lvl4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4pPr>
                <a:lvl5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defTabSz="274320"/>
                <a:r>
                  <a:rPr lang="en-US" sz="2800" dirty="0">
                    <a:solidFill>
                      <a:srgbClr val="E84A27"/>
                    </a:solidFill>
                    <a:latin typeface="+mn-lt"/>
                  </a:rPr>
                  <a:t>Time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E84A2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solidFill>
                              <a:srgbClr val="E84A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i="1" dirty="0">
                            <a:solidFill>
                              <a:srgbClr val="E84A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dirty="0" smtClean="0">
                            <a:solidFill>
                              <a:srgbClr val="E84A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2800" kern="0" dirty="0">
                    <a:solidFill>
                      <a:srgbClr val="E84A27"/>
                    </a:solidFill>
                    <a:latin typeface="+mn-lt"/>
                  </a:rPr>
                  <a:t> s</a:t>
                </a:r>
              </a:p>
            </p:txBody>
          </p:sp>
        </mc:Choice>
        <mc:Fallback xmlns="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4CD95408-AF99-294D-94EB-5FECA7F3A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93" y="133497"/>
                <a:ext cx="7860214" cy="590898"/>
              </a:xfrm>
              <a:prstGeom prst="rect">
                <a:avLst/>
              </a:prstGeom>
              <a:blipFill>
                <a:blip r:embed="rId3"/>
                <a:stretch>
                  <a:fillRect t="-833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9046FD6-3C7E-9740-8080-4420A66D80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6" y="990997"/>
            <a:ext cx="3411293" cy="2560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DA8100-D2C0-1C41-8840-7E3BD994F0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703" y="990997"/>
            <a:ext cx="3411293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01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4CD95408-AF99-294D-94EB-5FECA7F3AB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1893" y="133497"/>
                <a:ext cx="7860214" cy="590898"/>
              </a:xfrm>
              <a:prstGeom prst="rect">
                <a:avLst/>
              </a:prstGeom>
            </p:spPr>
            <p:txBody>
              <a:bodyPr/>
              <a:lstStyle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2pPr>
                <a:lvl3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3pPr>
                <a:lvl4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4pPr>
                <a:lvl5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defTabSz="274320"/>
                <a:r>
                  <a:rPr lang="en-US" sz="2800" dirty="0">
                    <a:solidFill>
                      <a:srgbClr val="E84A27"/>
                    </a:solidFill>
                    <a:latin typeface="+mn-lt"/>
                  </a:rPr>
                  <a:t>Time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dirty="0" smtClean="0">
                            <a:solidFill>
                              <a:srgbClr val="E84A2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 smtClean="0">
                            <a:solidFill>
                              <a:srgbClr val="E84A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dirty="0" smtClean="0">
                            <a:solidFill>
                              <a:srgbClr val="E84A27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sz="2800" kern="0" dirty="0">
                    <a:solidFill>
                      <a:srgbClr val="E84A27"/>
                    </a:solidFill>
                    <a:latin typeface="+mn-lt"/>
                  </a:rPr>
                  <a:t> s</a:t>
                </a:r>
              </a:p>
            </p:txBody>
          </p:sp>
        </mc:Choice>
        <mc:Fallback xmlns="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4CD95408-AF99-294D-94EB-5FECA7F3A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93" y="133497"/>
                <a:ext cx="7860214" cy="590898"/>
              </a:xfrm>
              <a:prstGeom prst="rect">
                <a:avLst/>
              </a:prstGeom>
              <a:blipFill>
                <a:blip r:embed="rId2"/>
                <a:stretch>
                  <a:fillRect t="-833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B56125A-13AC-1A49-ADEA-91F0B4B635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650" y="1231900"/>
            <a:ext cx="58547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214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2767-307F-E74C-99ED-10376695A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212" y="2217528"/>
            <a:ext cx="8283575" cy="1773237"/>
          </a:xfrm>
          <a:prstGeom prst="rect">
            <a:avLst/>
          </a:prstGeom>
        </p:spPr>
        <p:txBody>
          <a:bodyPr/>
          <a:lstStyle/>
          <a:p>
            <a:r>
              <a:rPr lang="en-US" sz="4800" b="1" i="1" dirty="0">
                <a:solidFill>
                  <a:srgbClr val="E84A27"/>
                </a:solidFill>
                <a:latin typeface="+mn-lt"/>
                <a:cs typeface="Calibri Light" panose="020F0302020204030204"/>
              </a:rPr>
              <a:t>Self interrogating</a:t>
            </a:r>
            <a:br>
              <a:rPr lang="en-US" sz="4800" b="1" i="1" dirty="0">
                <a:solidFill>
                  <a:srgbClr val="E84A27"/>
                </a:solidFill>
                <a:latin typeface="+mn-lt"/>
                <a:cs typeface="Calibri Light" panose="020F0302020204030204"/>
              </a:rPr>
            </a:br>
            <a:r>
              <a:rPr lang="en-US" sz="4800" b="1" i="1" dirty="0">
                <a:solidFill>
                  <a:srgbClr val="E84A27"/>
                </a:solidFill>
                <a:latin typeface="+mn-lt"/>
                <a:cs typeface="Calibri Light" panose="020F0302020204030204"/>
              </a:rPr>
              <a:t>DeepONet</a:t>
            </a:r>
            <a:endParaRPr lang="en-US" sz="3000" i="1" dirty="0">
              <a:solidFill>
                <a:srgbClr val="E84A27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930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4CD95408-AF99-294D-94EB-5FECA7F3AB84}"/>
              </a:ext>
            </a:extLst>
          </p:cNvPr>
          <p:cNvSpPr txBox="1">
            <a:spLocks/>
          </p:cNvSpPr>
          <p:nvPr/>
        </p:nvSpPr>
        <p:spPr>
          <a:xfrm>
            <a:off x="641893" y="133497"/>
            <a:ext cx="7860214" cy="59089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defTabSz="274320"/>
            <a:r>
              <a:rPr lang="en-US" sz="2800" dirty="0">
                <a:solidFill>
                  <a:srgbClr val="E84A27"/>
                </a:solidFill>
                <a:latin typeface="+mn-lt"/>
              </a:rPr>
              <a:t>Test Case</a:t>
            </a:r>
            <a:endParaRPr lang="en-US" sz="2800" kern="0" dirty="0">
              <a:solidFill>
                <a:srgbClr val="E84A27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88E817-30CB-E541-8C61-0D2814548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495" y="1828800"/>
            <a:ext cx="4298761" cy="3200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36A07A-4824-FF49-8504-068C449799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4" y="1828800"/>
            <a:ext cx="4298762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506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4CD95408-AF99-294D-94EB-5FECA7F3AB84}"/>
              </a:ext>
            </a:extLst>
          </p:cNvPr>
          <p:cNvSpPr txBox="1">
            <a:spLocks/>
          </p:cNvSpPr>
          <p:nvPr/>
        </p:nvSpPr>
        <p:spPr>
          <a:xfrm>
            <a:off x="641893" y="133497"/>
            <a:ext cx="7860214" cy="59089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defTabSz="274320"/>
            <a:r>
              <a:rPr lang="en-US" sz="2800" dirty="0">
                <a:solidFill>
                  <a:srgbClr val="E84A27"/>
                </a:solidFill>
                <a:latin typeface="+mn-lt"/>
              </a:rPr>
              <a:t>Test Case</a:t>
            </a:r>
            <a:endParaRPr lang="en-US" sz="2800" kern="0" dirty="0">
              <a:solidFill>
                <a:srgbClr val="E84A27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2F1BCD-D9D6-B34D-9327-E5735504D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4" y="1828800"/>
            <a:ext cx="4298762" cy="3200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FFF2FE-11F9-964D-B6D2-DE73307D73C1}"/>
              </a:ext>
            </a:extLst>
          </p:cNvPr>
          <p:cNvSpPr txBox="1"/>
          <p:nvPr/>
        </p:nvSpPr>
        <p:spPr>
          <a:xfrm>
            <a:off x="-3206338" y="63354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E91592-AF3B-F94A-9344-08D6E8D44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828800"/>
            <a:ext cx="4298762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77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C94ADED-2A67-2646-8476-DF279AE96F34}"/>
              </a:ext>
            </a:extLst>
          </p:cNvPr>
          <p:cNvSpPr txBox="1">
            <a:spLocks/>
          </p:cNvSpPr>
          <p:nvPr/>
        </p:nvSpPr>
        <p:spPr>
          <a:xfrm>
            <a:off x="430794" y="133497"/>
            <a:ext cx="8282413" cy="590898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dirty="0">
                <a:solidFill>
                  <a:srgbClr val="E84A27"/>
                </a:solidFill>
                <a:latin typeface="+mn-lt"/>
                <a:cs typeface="Calibri Light" panose="020F0302020204030204"/>
              </a:rPr>
              <a:t>Nonequilibrium factor: definition</a:t>
            </a:r>
            <a:endParaRPr lang="en-US" sz="2800" kern="0" dirty="0">
              <a:solidFill>
                <a:srgbClr val="E84A27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E227E-E0A1-E04C-952F-F16678AF8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5A7D59A-BE94-42CC-AE03-5F3AD26B166B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0C5E5B24-6A3C-C24A-828A-E2204F69D2CA}"/>
              </a:ext>
            </a:extLst>
          </p:cNvPr>
          <p:cNvSpPr txBox="1">
            <a:spLocks/>
          </p:cNvSpPr>
          <p:nvPr/>
        </p:nvSpPr>
        <p:spPr>
          <a:xfrm>
            <a:off x="11353800" y="6358370"/>
            <a:ext cx="609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C907CE-8754-E142-ACE4-CDE6218A8E3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E9390B-0B3D-F849-B1D1-0B73948E4348}"/>
              </a:ext>
            </a:extLst>
          </p:cNvPr>
          <p:cNvSpPr txBox="1"/>
          <p:nvPr/>
        </p:nvSpPr>
        <p:spPr>
          <a:xfrm>
            <a:off x="430794" y="1150663"/>
            <a:ext cx="92007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Wednesday 17: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Written error from equation and understand physical meaning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Plotted error evolution for ~5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Thought about Net structure for the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Wednesday 24: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Wednesday 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Trained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useful testcases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Wednesday 8: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Tested and Plotted testcases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9A1D6-4DA5-2B41-B718-08F0F2C256A5}"/>
              </a:ext>
            </a:extLst>
          </p:cNvPr>
          <p:cNvSpPr txBox="1"/>
          <p:nvPr/>
        </p:nvSpPr>
        <p:spPr>
          <a:xfrm>
            <a:off x="5922191" y="5078551"/>
            <a:ext cx="3221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(Paper structure)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8C360E-43D9-4442-A78E-18FA27EAA8D2}"/>
              </a:ext>
            </a:extLst>
          </p:cNvPr>
          <p:cNvSpPr txBox="1"/>
          <p:nvPr/>
        </p:nvSpPr>
        <p:spPr>
          <a:xfrm>
            <a:off x="5909007" y="2280165"/>
            <a:ext cx="3620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(AIAA paper 1</a:t>
            </a:r>
            <a:r>
              <a:rPr lang="en-US" baseline="30000" dirty="0"/>
              <a:t>st</a:t>
            </a:r>
            <a:r>
              <a:rPr lang="en-US" dirty="0"/>
              <a:t> draft and title)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6F9C6-6D57-5448-9E5B-6A7AE4FF74F2}"/>
              </a:ext>
            </a:extLst>
          </p:cNvPr>
          <p:cNvSpPr txBox="1"/>
          <p:nvPr/>
        </p:nvSpPr>
        <p:spPr>
          <a:xfrm>
            <a:off x="5909007" y="3096672"/>
            <a:ext cx="3620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(AIAA paper 2</a:t>
            </a:r>
            <a:r>
              <a:rPr lang="en-US" baseline="30000" dirty="0"/>
              <a:t>nd</a:t>
            </a:r>
            <a:r>
              <a:rPr lang="en-US" dirty="0"/>
              <a:t> draft)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514D2-E0CC-514C-B86B-2B610DA44FCC}"/>
              </a:ext>
            </a:extLst>
          </p:cNvPr>
          <p:cNvSpPr txBox="1"/>
          <p:nvPr/>
        </p:nvSpPr>
        <p:spPr>
          <a:xfrm>
            <a:off x="5909007" y="4097845"/>
            <a:ext cx="3620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(AIAA submission)</a:t>
            </a:r>
          </a:p>
        </p:txBody>
      </p:sp>
    </p:spTree>
    <p:extLst>
      <p:ext uri="{BB962C8B-B14F-4D97-AF65-F5344CB8AC3E}">
        <p14:creationId xmlns:p14="http://schemas.microsoft.com/office/powerpoint/2010/main" val="2942098402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4331</TotalTime>
  <Words>664</Words>
  <Application>Microsoft Macintosh PowerPoint</Application>
  <PresentationFormat>On-screen Show (4:3)</PresentationFormat>
  <Paragraphs>176</Paragraphs>
  <Slides>31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宋体</vt:lpstr>
      <vt:lpstr>Arial</vt:lpstr>
      <vt:lpstr>Calibri</vt:lpstr>
      <vt:lpstr>Cambria Math</vt:lpstr>
      <vt:lpstr>Times New Roman</vt:lpstr>
      <vt:lpstr>Wingdings</vt:lpstr>
      <vt:lpstr>1_Custom Design</vt:lpstr>
      <vt:lpstr>ML-Based Surrogate for  Non-Equilibrium Chemistry</vt:lpstr>
      <vt:lpstr>PowerPoint Presentation</vt:lpstr>
      <vt:lpstr>Adaptive nonequilibrium strategy</vt:lpstr>
      <vt:lpstr>Adaptive Nonequilibrium strategy  Nonequilibrium factor: definition &amp; calibration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Adaptive nonequilibrium strategy Test Case</vt:lpstr>
      <vt:lpstr>PowerPoint Presentation</vt:lpstr>
      <vt:lpstr>Adaptive nonequilibrium strategy Nonequilibrium Factor: x</vt:lpstr>
      <vt:lpstr>PowerPoint Presentation</vt:lpstr>
      <vt:lpstr>PowerPoint Presentation</vt:lpstr>
      <vt:lpstr>Adaptive nonequilibrium strategy Nonequilibrium Factor: Δα</vt:lpstr>
      <vt:lpstr>PowerPoint Presentation</vt:lpstr>
      <vt:lpstr>PowerPoint Presentation</vt:lpstr>
      <vt:lpstr>Adaptive nonequilibrium strategy Levels distribution</vt:lpstr>
      <vt:lpstr>PowerPoint Presentation</vt:lpstr>
      <vt:lpstr>PowerPoint Presentation</vt:lpstr>
      <vt:lpstr>PowerPoint Presentation</vt:lpstr>
      <vt:lpstr>PowerPoint Presentation</vt:lpstr>
      <vt:lpstr>Self interrogating DeepONet</vt:lpstr>
      <vt:lpstr>PowerPoint Presentation</vt:lpstr>
      <vt:lpstr>PowerPoint Presentation</vt:lpstr>
      <vt:lpstr>PowerPoint Presentation</vt:lpstr>
    </vt:vector>
  </TitlesOfParts>
  <Company>Michigan State University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Joseph Valco</dc:creator>
  <cp:lastModifiedBy>Zanardi, Ivan</cp:lastModifiedBy>
  <cp:revision>292</cp:revision>
  <cp:lastPrinted>2013-09-17T20:14:18Z</cp:lastPrinted>
  <dcterms:created xsi:type="dcterms:W3CDTF">2012-08-24T18:11:24Z</dcterms:created>
  <dcterms:modified xsi:type="dcterms:W3CDTF">2021-11-17T19:39:24Z</dcterms:modified>
</cp:coreProperties>
</file>